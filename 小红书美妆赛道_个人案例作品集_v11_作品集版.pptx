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73152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1005840"/>
            <a:ext cx="2194560" cy="219456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3000" b="0">
                <a:solidFill>
                  <a:srgbClr val="8888AA"/>
                </a:solidFill>
              </a:defRPr>
            </a:pPr>
            <a:r>
              <a:t>小红书</a:t>
            </a:r>
          </a:p>
          <a:p>
            <a:pPr algn="l">
              <a:spcBef>
                <a:spcPts val="0"/>
              </a:spcBef>
              <a:defRPr sz="5200" b="1">
                <a:solidFill>
                  <a:srgbClr val="FFFFFF"/>
                </a:solidFill>
              </a:defRPr>
            </a:pPr>
            <a:r>
              <a:t>美妆赛道</a:t>
            </a:r>
          </a:p>
          <a:p>
            <a:pPr algn="l">
              <a:spcBef>
                <a:spcPts val="400"/>
              </a:spcBef>
              <a:defRPr sz="3400" b="1">
                <a:solidFill>
                  <a:srgbClr val="FF6B8A"/>
                </a:solidFill>
              </a:defRPr>
            </a:pPr>
            <a:r>
              <a:t>美妆赛道大达人投放策略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749039"/>
            <a:ext cx="201168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931920"/>
            <a:ext cx="5943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平台洞察 · 达人矩阵 · 内容拆解 · 投放SOP · 数据归因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34840"/>
            <a:ext cx="4114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8888AA"/>
                </a:solidFill>
              </a:defRPr>
            </a:pPr>
            <a:r>
              <a:t>个人案例作品集</a:t>
            </a:r>
          </a:p>
          <a:p>
            <a:pPr algn="l">
              <a:spcBef>
                <a:spcPts val="600"/>
              </a:spcBef>
              <a:defRPr sz="1600" b="1">
                <a:solidFill>
                  <a:srgbClr val="E8E8F0"/>
                </a:solidFill>
              </a:defRPr>
            </a:pPr>
            <a:r>
              <a:t>9年互联网广告及媒介执行经验</a:t>
            </a:r>
          </a:p>
          <a:p>
            <a:pPr algn="l">
              <a:spcBef>
                <a:spcPts val="200"/>
              </a:spcBef>
              <a:defRPr sz="1200" b="0">
                <a:solidFill>
                  <a:srgbClr val="BBBBCC"/>
                </a:solidFill>
              </a:defRPr>
            </a:pPr>
            <a:r>
              <a:t>深耕腾讯 · 字节 · 百度 · 荣耀等主流平台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371600"/>
            <a:ext cx="2560320" cy="3200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06640" y="1554480"/>
            <a:ext cx="1828800" cy="1828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06640" y="1591056"/>
            <a:ext cx="1371600" cy="13716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182880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6B8A"/>
                </a:solidFill>
              </a:defRPr>
            </a:pPr>
            <a:r>
              <a:t>9+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317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0">
                <a:solidFill>
                  <a:srgbClr val="8888AA"/>
                </a:solidFill>
              </a:defRPr>
            </a:pPr>
            <a:r>
              <a:t>年媒介执行经验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7432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7614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30+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7797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品牌客户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32004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52360" y="32186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2000万+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2369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广告流水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0" y="3657600"/>
            <a:ext cx="27432" cy="274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52360" y="3675888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</a:defRPr>
            </a:pPr>
            <a:r>
              <a:t>500+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694176"/>
            <a:ext cx="11887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达人资源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754880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</a:defRPr>
            </a:pPr>
            <a:r>
              <a:t>Portfolio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平台洞察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美妆用户在小红书的搜索行为与决策路径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188720"/>
            <a:ext cx="365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FF6B8A"/>
                </a:solidFill>
              </a:defRPr>
            </a:pPr>
            <a:r>
              <a:t>3.2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次平均搜索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搜索驱动决策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美妆用户平均搜索3.2次后才完成购买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44368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81528" y="1188720"/>
            <a:ext cx="365760" cy="2286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4EC9B0"/>
                </a:solidFill>
              </a:defRPr>
            </a:pPr>
            <a:r>
              <a:t>73%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81528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用户行为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81528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真实体验优先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8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素人笔记信任度高于明星代言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1097280"/>
            <a:ext cx="2377440" cy="14630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68696" y="1188720"/>
            <a:ext cx="365760" cy="228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68696" y="13716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1">
                <a:solidFill>
                  <a:srgbClr val="BB86FC"/>
                </a:solidFill>
              </a:defRPr>
            </a:pPr>
            <a:r>
              <a:t>多层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68696" y="1737360"/>
            <a:ext cx="2103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圈层分化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68696" y="192024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精准定向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68696" y="214884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成分党、敏感肌、抗老需精准投放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777240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种草→转化路径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108960"/>
            <a:ext cx="7772400" cy="6400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3108960"/>
            <a:ext cx="3264408" cy="64008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0460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893040" y="3108960"/>
            <a:ext cx="544068" cy="6400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707874" y="3191256"/>
            <a:ext cx="9144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290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6B8A"/>
                </a:solidFill>
              </a:defRPr>
            </a:pPr>
            <a:r>
              <a:t>100%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曝光触达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信息流/搜索/话题页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395728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395728" y="3429000"/>
            <a:ext cx="1828800" cy="27432"/>
          </a:xfrm>
          <a:prstGeom prst="rect">
            <a:avLst/>
          </a:prstGeom>
          <a:solidFill>
            <a:srgbClr val="FF8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487168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FF8CA0"/>
                </a:solidFill>
              </a:defRPr>
            </a:pPr>
            <a:r>
              <a:t>42%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87168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互动收藏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487168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点赞·收藏·评论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34256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334256" y="34290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4EC9B0"/>
                </a:solidFill>
              </a:defRPr>
            </a:pPr>
            <a:r>
              <a:t>18%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25696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搜索加深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25696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品牌词/竞品词搜索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72784" y="3429000"/>
            <a:ext cx="18288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72784" y="34290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64224" y="347472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BB86FC"/>
                </a:solidFill>
              </a:defRPr>
            </a:pPr>
            <a:r>
              <a:t>7%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3794760"/>
            <a:ext cx="1645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站外转化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3959352"/>
            <a:ext cx="164592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8888AA"/>
                </a:solidFill>
              </a:defRPr>
            </a:pPr>
            <a:r>
              <a:t>跳转电商/到店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297680"/>
            <a:ext cx="5486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数据来源：小红书官方数据报告、蝉妈妈、千瓜数据等第三方平台</a:t>
            </a:r>
          </a:p>
        </p:txBody>
      </p:sp>
      <p:sp>
        <p:nvSpPr>
          <p:cNvPr id="57" name="Oval 56"/>
          <p:cNvSpPr/>
          <p:nvPr/>
        </p:nvSpPr>
        <p:spPr>
          <a:xfrm>
            <a:off x="9144000" y="3657600"/>
            <a:ext cx="2743200" cy="2743200"/>
          </a:xfrm>
          <a:prstGeom prst="ellipse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509760" y="4023360"/>
            <a:ext cx="2011680" cy="2011680"/>
          </a:xfrm>
          <a:prstGeom prst="ellipse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达人矩阵策略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金字塔分层打法：不同层级达人的角色与执行要点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9144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292608" cy="292608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188720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170432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头部达人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417320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50W+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170432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品牌背书 + 声量爆发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645920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筛选：粉丝量级 × 互动率 × 画像匹配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近30天垂直度 ≥ 80%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口碑评估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066544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066544"/>
            <a:ext cx="45720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2157984"/>
            <a:ext cx="292608" cy="292608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157984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2139696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腰部达人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386584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5W–50W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2139696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专业种草 + 信任建立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2615184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分级报价体系，设上限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批量采购折扣（10篇+）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置换+费用组合降本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035808"/>
            <a:ext cx="5029200" cy="9144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3035808"/>
            <a:ext cx="45720" cy="91440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127248"/>
            <a:ext cx="292608" cy="292608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27248"/>
            <a:ext cx="29260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21224"/>
                </a:solidFill>
              </a:defRPr>
            </a:pPr>
            <a: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108960"/>
            <a:ext cx="18288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KOC / 素人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3355848"/>
            <a:ext cx="1645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60-75W篇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10896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铺量造势 + SEO覆盖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584448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Brief给方向不给限制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保留达人原创表达</a:t>
            </a:r>
          </a:p>
          <a:p>
            <a:pPr algn="l">
              <a:spcBef>
                <a:spcPts val="0"/>
              </a:spcBef>
              <a:defRPr sz="800" b="0">
                <a:solidFill>
                  <a:srgbClr val="E8E8F0"/>
                </a:solidFill>
              </a:defRPr>
            </a:pPr>
            <a:r>
              <a:t>▸ 设3个必提卖点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1097280"/>
            <a:ext cx="2560320" cy="47548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897880" y="1188720"/>
            <a:ext cx="228600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0" y="1417320"/>
            <a:ext cx="21945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我的方法论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金字塔模型的核心不是均匀分配预算，</a:t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而是根据品牌阶段动态调整比例。</a:t>
            </a:r>
          </a:p>
          <a:p>
            <a:pPr algn="l">
              <a:spcBef>
                <a:spcPts val="8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5943600" y="292608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新品牌项目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12724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43600" y="3127248"/>
            <a:ext cx="62480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0" y="352044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成熟品牌项目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0" y="372160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943600" y="3721608"/>
            <a:ext cx="6248095" cy="36576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943600" y="4114800"/>
            <a:ext cx="2194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增长期项目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4315968"/>
            <a:ext cx="219456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943600" y="4315968"/>
            <a:ext cx="6248095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57200" y="5120640"/>
            <a:ext cx="502920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" y="5120640"/>
            <a:ext cx="45720" cy="13716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5193792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💡 实战经验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48640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400"/>
              </a:spcBef>
              <a:defRPr sz="1000" b="0">
                <a:solidFill>
                  <a:srgbClr val="BBBBCC"/>
                </a:solidFill>
              </a:defRPr>
            </a:pPr>
            <a:r>
              <a:t>新品牌项目：先用KOC铺量测试内容方向，再放大腰部达人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成熟品牌项目：头部达人保持调性，腰部达人负责转化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增长期项目：腰部为核心，头部造势+KOC SEO全面铺开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5120640"/>
            <a:ext cx="2560320" cy="13716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760720" y="5120640"/>
            <a:ext cx="45720" cy="13716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989320" y="5193792"/>
            <a:ext cx="2103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</a:defRPr>
            </a:pPr>
            <a:r>
              <a:t>关键指标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89320" y="553212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曝光覆盖率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0" y="553212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≥ 80%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989320" y="585216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互动率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0" y="585216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4EC9B0"/>
                </a:solidFill>
              </a:defRPr>
            </a:pPr>
            <a:r>
              <a:t>≥ 3%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61722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ROI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617220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BB86FC"/>
                </a:solidFill>
              </a:defRPr>
            </a:pPr>
            <a:r>
              <a:t>≥ 1.5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内容方向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爆款笔记的四类结构拆解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45720" cy="141732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6B8A"/>
                </a:solidFill>
              </a:defRPr>
            </a:pPr>
            <a:r>
              <a:t>测评类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6B8A"/>
                </a:solidFill>
              </a:defRPr>
            </a:pPr>
            <a:r>
              <a:t>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信任型内容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横向对比3-5款同类产品，突出优势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空瓶记式真实使用记录，前后对比图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60520" y="109728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60520" y="1097280"/>
            <a:ext cx="45720" cy="14173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18872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4EC9B0"/>
                </a:solidFill>
              </a:defRPr>
            </a:pPr>
            <a:r>
              <a:t>教程类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18872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4EC9B0"/>
                </a:solidFill>
              </a:defRPr>
            </a:pPr>
            <a:r>
              <a:t>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150876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场景化教学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16916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如早C晚A搭配指南，步骤清晰可复制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01168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20574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收藏率高，实用性强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606040"/>
            <a:ext cx="45720" cy="14173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BB86FC"/>
                </a:solidFill>
              </a:defRPr>
            </a:pPr>
            <a:r>
              <a:t>故事类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情感型内容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个人经历+产品融入，如敏感肌自救故事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引发共鸣，评论区互动率高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160520" y="2606040"/>
            <a:ext cx="3566160" cy="141732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60520" y="2606040"/>
            <a:ext cx="45720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69748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FFD700"/>
                </a:solidFill>
              </a:defRPr>
            </a:pPr>
            <a:r>
              <a:t>干货类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269748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26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3017520"/>
            <a:ext cx="32004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8888AA"/>
                </a:solidFill>
              </a:defRPr>
            </a:pPr>
            <a:r>
              <a:t>成分科普·选购指南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43400" y="320040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0">
                <a:solidFill>
                  <a:srgbClr val="E8E8F0"/>
                </a:solidFill>
              </a:defRPr>
            </a:pPr>
            <a:r>
              <a:t>长尾流量好，搜索排名持续生效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400" y="3520440"/>
            <a:ext cx="3291840" cy="9144"/>
          </a:xfrm>
          <a:prstGeom prst="rect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3566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900" b="1">
                <a:solidFill>
                  <a:srgbClr val="8888AA"/>
                </a:solidFill>
              </a:defRPr>
            </a:pPr>
            <a:r>
              <a:t/>
            </a: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建立品牌专业形象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097280"/>
            <a:ext cx="2926080" cy="4114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83880" y="1188720"/>
            <a:ext cx="2651760" cy="2286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1417320"/>
            <a:ext cx="2560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400" b="1">
                <a:solidFill>
                  <a:srgbClr val="FF6B8A"/>
                </a:solidFill>
              </a:defRPr>
            </a:pPr>
            <a:r>
              <a:t>内容策略建议</a:t>
            </a:r>
          </a:p>
          <a:p>
            <a:pPr algn="l">
              <a:spcBef>
                <a:spcPts val="500"/>
              </a:spcBef>
              <a:defRPr sz="5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四类内容应形成互补矩阵：</a:t>
            </a:r>
          </a:p>
          <a:p>
            <a:pPr algn="l">
              <a:spcBef>
                <a:spcPts val="400"/>
              </a:spcBef>
              <a:defRPr sz="500" b="0">
                <a:solidFill>
                  <a:srgbClr val="FFFFFF"/>
                </a:solidFill>
              </a:defRPr>
            </a:pPr>
          </a:p>
        </p:txBody>
      </p:sp>
      <p:sp>
        <p:nvSpPr>
          <p:cNvPr id="42" name="Rectangle 41"/>
          <p:cNvSpPr/>
          <p:nvPr/>
        </p:nvSpPr>
        <p:spPr>
          <a:xfrm>
            <a:off x="8229600" y="246888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0" y="2468880"/>
            <a:ext cx="3962095" cy="36576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0" y="233172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教程+测评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233172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55%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2720" y="233172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核心产出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310896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229600" y="3108960"/>
            <a:ext cx="3962095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0" y="297180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故事类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297180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20" y="297180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话题制造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3749040"/>
            <a:ext cx="2560320" cy="36576"/>
          </a:xfrm>
          <a:prstGeom prst="rect">
            <a:avLst/>
          </a:prstGeom>
          <a:solidFill>
            <a:srgbClr val="2A2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29600" y="3749040"/>
            <a:ext cx="3962095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29600" y="3611880"/>
            <a:ext cx="1371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干货类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3611880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25%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32720" y="3611880"/>
            <a:ext cx="5486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 b="0">
                <a:solidFill>
                  <a:srgbClr val="8888AA"/>
                </a:solidFill>
              </a:defRPr>
            </a:pPr>
            <a:r>
              <a:t>长尾流量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114800"/>
            <a:ext cx="7589520" cy="4572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57200" y="4114800"/>
            <a:ext cx="45720" cy="4572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142232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6B8A"/>
                </a:solidFill>
              </a:defRPr>
            </a:pPr>
            <a:r>
              <a:t>关键发现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4343400"/>
            <a:ext cx="7132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标题决定点击率 → 封面决定停留 → 正文决定转化 → 三者缺一不可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754880"/>
            <a:ext cx="7589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💡 我的判断：教程类和测评类合计占55%，是核心内容类型；但故事类互动成本最低——适合新品冷启动制造话题。</a:t>
            </a:r>
          </a:p>
        </p:txBody>
      </p:sp>
      <p:sp>
        <p:nvSpPr>
          <p:cNvPr id="62" name="Oval 61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投放节奏与预算分配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4周投放节奏框架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1828800" cy="411480"/>
          </a:xfrm>
          <a:prstGeom prst="round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第1周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蓄水期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达人招募与brief下发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种子笔记铺垫（10-15篇）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品牌词SEO占位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77440" y="1051560"/>
            <a:ext cx="1828800" cy="411480"/>
          </a:xfrm>
          <a:prstGeom prst="round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45%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第2周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爆发期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7744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6888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腰部达人集中发布（30-50篇）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头部达人引爆声量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信息流投放加码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1051560"/>
            <a:ext cx="1828800" cy="411480"/>
          </a:xfrm>
          <a:prstGeom prst="round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4340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25%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第3周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扩散期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8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KOC铺量（100+篇）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UGC话题挑战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评论区运营引导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051560"/>
            <a:ext cx="1828800" cy="41148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069848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21224"/>
                </a:solidFill>
              </a:defRPr>
            </a:pPr>
            <a:r>
              <a:t>15%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5087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第4周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764792"/>
            <a:ext cx="1828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复盘期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11680"/>
            <a:ext cx="18288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2057400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300"/>
              </a:spcBef>
              <a:defRPr sz="900" b="1">
                <a:solidFill>
                  <a:srgbClr val="E8E8F0"/>
                </a:solidFill>
              </a:defRPr>
            </a:pPr>
            <a:r>
              <a:t>▸ 数据追踪与效果归因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优质内容二次投放</a:t>
            </a:r>
          </a:p>
          <a:p>
            <a:pPr algn="l">
              <a:spcBef>
                <a:spcPts val="300"/>
              </a:spcBef>
              <a:defRPr sz="900" b="0">
                <a:solidFill>
                  <a:srgbClr val="E8E8F0"/>
                </a:solidFill>
              </a:defRPr>
            </a:pPr>
            <a:r>
              <a:t>▸ 沉淀SOP与达人库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3200400"/>
            <a:ext cx="1828800" cy="27432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6B8A"/>
                </a:solidFill>
              </a:defRPr>
            </a:pPr>
            <a:r>
              <a:t>曝光量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达成目标覆盖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37744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377440" y="3200400"/>
            <a:ext cx="1828800" cy="27432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6888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4EC9B0"/>
                </a:solidFill>
              </a:defRPr>
            </a:pPr>
            <a:r>
              <a:t>互动率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6888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3200400"/>
            <a:ext cx="1828800" cy="27432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BB86FC"/>
                </a:solidFill>
              </a:defRPr>
            </a:pPr>
            <a:r>
              <a:t>搜索排名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品牌词 TOP3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3200400"/>
            <a:ext cx="1828800" cy="59436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7920" y="3200400"/>
            <a:ext cx="1828800" cy="27432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3227832"/>
            <a:ext cx="1645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D700"/>
                </a:solidFill>
              </a:defRPr>
            </a:pPr>
            <a:r>
              <a:t>ROI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≥ 1.5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977639"/>
            <a:ext cx="502920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57200" y="3977639"/>
            <a:ext cx="45720" cy="10058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050791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核心逻辑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297679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100" b="0">
                <a:solidFill>
                  <a:srgbClr val="BBBBCC"/>
                </a:solidFill>
              </a:defRPr>
            </a:pPr>
            <a:r>
              <a:t>预算分配遵循「前低→中高→中→收尾」曲线，</a:t>
            </a:r>
          </a:p>
          <a:p>
            <a:pPr algn="l">
              <a:spcBef>
                <a:spcPts val="200"/>
              </a:spcBef>
              <a:defRPr sz="1100" b="0">
                <a:solidFill>
                  <a:srgbClr val="BBBBCC"/>
                </a:solidFill>
              </a:defRPr>
            </a:pPr>
            <a:r>
              <a:t>爆发期投入最大，确保声量峰值集中。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760720" y="3977639"/>
            <a:ext cx="2926080" cy="100584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760720" y="3977639"/>
            <a:ext cx="45720" cy="100584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89320" y="4050791"/>
            <a:ext cx="2468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</a:defRPr>
            </a:pPr>
            <a:r>
              <a:t>💡 实战经验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89320" y="4297679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爆发期前预留3天预热素材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复盘期重点关注ROI低于1.2的渠道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BBBCC"/>
                </a:solidFill>
              </a:defRPr>
            </a:pPr>
            <a:r>
              <a:t>• 优质内容二次投放延长长尾效应</a:t>
            </a:r>
          </a:p>
        </p:txBody>
      </p:sp>
      <p:sp>
        <p:nvSpPr>
          <p:cNvPr id="55" name="Oval 54"/>
          <p:cNvSpPr/>
          <p:nvPr/>
        </p:nvSpPr>
        <p:spPr>
          <a:xfrm>
            <a:off x="45720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3152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00584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28016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55448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828800" y="51663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103120" y="51663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224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方法论沉淀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7315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从执行到策略的能力迁移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51560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51560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097280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097280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30+品牌客户对接执行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078992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1097280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达人招募与需求沟通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481328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1481328"/>
            <a:ext cx="45720" cy="384048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1527048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EC9B0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527048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2000万+广告流水管理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508760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4EC9B0"/>
                </a:solidFill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1527048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4EC9B0"/>
                </a:solidFill>
              </a:defRPr>
            </a:pPr>
            <a:r>
              <a:t>预算分配与报价管控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911096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1911096"/>
            <a:ext cx="45720" cy="384048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956816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B86FC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1956816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SOP流程搭建（抖音/百度/小红书）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1938528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BB86FC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1956816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</a:defRPr>
            </a:pPr>
            <a:r>
              <a:t>小红书媒介执行SOP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340864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340864"/>
            <a:ext cx="45720" cy="38404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2386584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2386584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数据归因分析 &amp; ROI优化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2368296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D700"/>
                </a:solidFill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238658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D700"/>
                </a:solidFill>
              </a:defRPr>
            </a:pPr>
            <a:r>
              <a:t>投放效果追踪与复盘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2770632"/>
            <a:ext cx="7772400" cy="384048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770632"/>
            <a:ext cx="45720" cy="384048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816352"/>
            <a:ext cx="25603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6B8A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2816352"/>
            <a:ext cx="2560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</a:defRPr>
            </a:pPr>
            <a:r>
              <a:t>跨部门协同（设计/媒介/财务）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0" y="2798064"/>
            <a:ext cx="2743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6B8A"/>
                </a:solidFill>
              </a:defRPr>
            </a:pPr>
            <a: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2816352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100" b="1">
                <a:solidFill>
                  <a:srgbClr val="FF6B8A"/>
                </a:solidFill>
              </a:defRPr>
            </a:pPr>
            <a:r>
              <a:t>内容审核与出品把控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200400"/>
            <a:ext cx="7772400" cy="68580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57200" y="3200400"/>
            <a:ext cx="45720" cy="685800"/>
          </a:xfrm>
          <a:prstGeom prst="rect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3227832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FF6B8A"/>
                </a:solidFill>
              </a:defRPr>
            </a:pPr>
            <a:r>
              <a:t>我的核心优势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3474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</a:defRPr>
            </a:pPr>
            <a:r>
              <a:t>不是只做执行的人——而是能从品牌视角理解平台逻辑，推动营销闭环的项目经理。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692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9年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互联网广告经验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10896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1868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BB86FC"/>
                </a:solidFill>
              </a:defRPr>
            </a:pPr>
            <a:r>
              <a:t>腾讯/字节/百度/荣耀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1868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主流平台服务经验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760720" y="4069080"/>
            <a:ext cx="2377440" cy="548640"/>
          </a:xfrm>
          <a:prstGeom prst="roundRect">
            <a:avLst/>
          </a:prstGeom>
          <a:solidFill>
            <a:srgbClr val="2525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0448" y="4114800"/>
            <a:ext cx="2103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小红书深度用户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70448" y="4343400"/>
            <a:ext cx="210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0">
                <a:solidFill>
                  <a:srgbClr val="BBBBCC"/>
                </a:solidFill>
              </a:defRPr>
            </a:pPr>
            <a:r>
              <a:t>持续跟踪平台趋势与玩法迭代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4800600"/>
            <a:ext cx="502920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4800600"/>
            <a:ext cx="45720" cy="64008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85800" y="48463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</a:defRPr>
            </a:pPr>
            <a:r>
              <a:t>📋 核心能力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5074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达人矩阵方案 · 投放SOP文档 · 效果归因报告 · 品牌内容策略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760720" y="4800600"/>
            <a:ext cx="2560320" cy="640080"/>
          </a:xfrm>
          <a:prstGeom prst="roundRect">
            <a:avLst/>
          </a:prstGeom>
          <a:solidFill>
            <a:srgbClr val="1E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760720" y="4800600"/>
            <a:ext cx="4572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89320" y="4846320"/>
            <a:ext cx="21031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</a:defRPr>
            </a:pPr>
            <a:r>
              <a:t>🎯 关于我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89320" y="50749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</a:p>
          <a:p>
            <a:pPr algn="l">
              <a:spcBef>
                <a:spcPts val="0"/>
              </a:spcBef>
              <a:defRPr sz="1000" b="0">
                <a:solidFill>
                  <a:srgbClr val="BBBBCC"/>
                </a:solidFill>
              </a:defRPr>
            </a:pPr>
            <a:r>
              <a:t>9年互联网广告经验 · 深耕美妆赛道 · 擅长达人投放与媒介策略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7200" y="56235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0">
                <a:solidFill>
                  <a:srgbClr val="8888AA"/>
                </a:solidFill>
              </a:defRPr>
            </a:pPr>
            <a:r>
              <a:t>小红书美妆赛道 · 个人案例作品集 · 2026</a:t>
            </a:r>
          </a:p>
        </p:txBody>
      </p:sp>
      <p:sp>
        <p:nvSpPr>
          <p:cNvPr id="59" name="Oval 58"/>
          <p:cNvSpPr/>
          <p:nvPr/>
        </p:nvSpPr>
        <p:spPr>
          <a:xfrm>
            <a:off x="45720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3152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00584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28016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55448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828800" y="5852160"/>
            <a:ext cx="27432" cy="27432"/>
          </a:xfrm>
          <a:prstGeom prst="ellipse">
            <a:avLst/>
          </a:prstGeom>
          <a:solidFill>
            <a:srgbClr val="33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103120" y="5852160"/>
            <a:ext cx="27432" cy="27432"/>
          </a:xfrm>
          <a:prstGeom prst="ellipse">
            <a:avLst/>
          </a:prstGeom>
          <a:solidFill>
            <a:srgbClr val="FF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