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9144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9999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7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4800" b="1">
                <a:solidFill>
                  <a:srgbClr val="FF6B8A"/>
                </a:solidFill>
              </a:defRPr>
            </a:pPr>
            <a:r>
              <a:t>媒介策略案例分析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120640"/>
            <a:ext cx="22860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1400" b="0">
                <a:solidFill>
                  <a:srgbClr val="9999AA"/>
                </a:solidFill>
              </a:defRPr>
            </a:pPr>
            <a:r>
              <a:t>个人案例作品</a:t>
            </a:r>
          </a:p>
          <a:p>
            <a:pPr algn="l">
              <a:spcBef>
                <a:spcPts val="1200"/>
              </a:spcBef>
              <a:defRPr sz="1600" b="1">
                <a:solidFill>
                  <a:srgbClr val="F0F0F5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286000"/>
            <a:ext cx="201168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6B8A"/>
                </a:solidFill>
              </a:defRPr>
            </a:pPr>
            <a:r>
              <a:t>小红书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ctr">
              <a:spcBef>
                <a:spcPts val="200"/>
              </a:spcBef>
              <a:defRPr sz="1400" b="0">
                <a:solidFill>
                  <a:srgbClr val="CCCCCC"/>
                </a:solidFill>
              </a:defRPr>
            </a:pPr>
            <a:r>
              <a:t>深度分析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754880"/>
            <a:ext cx="2286000" cy="3657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754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9999AA"/>
                </a:solidFill>
              </a:defRPr>
            </a:pPr>
            <a:r>
              <a:t>Case Study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9144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6B8A"/>
                </a:solidFill>
              </a:defRPr>
            </a:pPr>
            <a:r>
              <a:t>01</a:t>
            </a:r>
          </a:p>
          <a:p>
            <a:pPr algn="l">
              <a:spcBef>
                <a:spcPts val="0"/>
              </a:spcBef>
              <a:defRPr sz="32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4688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</a:defRPr>
            </a:pPr>
            <a:r>
              <a:t>次平均搜索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美妆用户平均搜索3.2次后才完成购买</a:t>
            </a:r>
            <a:br/>
            <a:r>
              <a:t>关键词布局是投放的第一步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731520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1554480"/>
            <a:ext cx="24688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603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</a:defRPr>
            </a:pPr>
            <a:r>
              <a:t>用户行为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346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246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美妆消费者决策前会先在小红书搜索</a:t>
            </a:r>
            <a:br/>
            <a:r>
              <a:t>素人笔记信任度高于明星代言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3931920"/>
            <a:ext cx="7315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1554480"/>
            <a:ext cx="2468880" cy="25603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603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</a:defRPr>
            </a:pPr>
            <a:r>
              <a:t>圈层分化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346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246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成分党、敏感肌、抗老等细分人群</a:t>
            </a:r>
            <a:br/>
            <a:r>
              <a:t>需求差异大，需精准定向投放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31920"/>
            <a:ext cx="73152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1965960" cy="1463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937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949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235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</a:defRPr>
            </a:pPr>
            <a:r>
              <a:t>信息流/搜索/话题页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24328" y="4846320"/>
            <a:ext cx="1965960" cy="1463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1488" y="4937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1488" y="53949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56235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</a:defRPr>
            </a:pPr>
            <a:r>
              <a:t>点赞·收藏·评论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0016" y="4846320"/>
            <a:ext cx="1965960" cy="1463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37176" y="4937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37176" y="53949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7176" y="56235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</a:defRPr>
            </a:pPr>
            <a:r>
              <a:t>品牌词/竞品词搜索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75704" y="4846320"/>
            <a:ext cx="1965960" cy="1463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12864" y="4937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2864" y="53949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2864" y="56235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</a:defRPr>
            </a:pPr>
            <a:r>
              <a:t>跳转电商/到店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8046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999AA"/>
                </a:solidFill>
              </a:defRPr>
            </a:pPr>
            <a:r>
              <a:t>数据来源：小红书美妆行业白皮书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9144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6B8A"/>
                </a:solidFill>
              </a:defRPr>
            </a:pPr>
            <a:r>
              <a:t>02</a:t>
            </a:r>
          </a:p>
          <a:p>
            <a:pPr algn="l">
              <a:spcBef>
                <a:spcPts val="0"/>
              </a:spcBef>
              <a:defRPr sz="32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28950" y="1554480"/>
            <a:ext cx="3268980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11830" y="1645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6B8A"/>
                </a:solidFill>
              </a:defRPr>
            </a:pPr>
            <a:r>
              <a:t>头部达人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9210" y="1645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1830" y="20116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品牌背书 + 声量爆发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1830" y="2377440"/>
            <a:ext cx="4572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1830" y="2468880"/>
            <a:ext cx="2903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F0F0F5"/>
                </a:solidFill>
              </a:defRPr>
            </a:pPr>
            <a:r>
              <a:t>▸ 筛选：粉丝量级 × 互动率 × 画像匹配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0F0F5"/>
                </a:solidFill>
              </a:defRPr>
            </a:pPr>
            <a:r>
              <a:t>▸ 垂直度 ≥ 80%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0F0F5"/>
                </a:solidFill>
              </a:defRPr>
            </a:pPr>
            <a:r>
              <a:t>▸ 口碑评估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3744" y="3749039"/>
            <a:ext cx="4279392" cy="2011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384047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腰部达人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4416" y="3840479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420623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专业种草 + 信任建立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6624" y="4571999"/>
            <a:ext cx="4572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4663439"/>
            <a:ext cx="3913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F0F0F5"/>
                </a:solidFill>
              </a:defRPr>
            </a:pPr>
            <a:r>
              <a:t>▸ 分级报价体系，设上限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0F0F5"/>
                </a:solidFill>
              </a:defRPr>
            </a:pPr>
            <a:r>
              <a:t>▸ 批量采购折扣（10篇+）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0F0F5"/>
                </a:solidFill>
              </a:defRPr>
            </a:pPr>
            <a:r>
              <a:t>▸ 置换+费用组合降本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8538" y="5943600"/>
            <a:ext cx="5289804" cy="18288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01418" y="60350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</a:defRPr>
            </a:pPr>
            <a:r>
              <a:t>KOC / 素人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9622" y="6035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1418" y="6400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铺量造势 + SEO覆盖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1418" y="6766560"/>
            <a:ext cx="4572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01418" y="6858000"/>
            <a:ext cx="49240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F0F0F5"/>
                </a:solidFill>
              </a:defRPr>
            </a:pPr>
            <a:r>
              <a:t>▸ Brief给方向不给限制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0F0F5"/>
                </a:solidFill>
              </a:defRPr>
            </a:pPr>
            <a:r>
              <a:t>▸ 保留达人原创表达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0F0F5"/>
                </a:solidFill>
              </a:defRPr>
            </a:pPr>
            <a:r>
              <a:t>▸ 设3个必提卖点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74320"/>
            <a:ext cx="22860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600" b="1">
                <a:solidFill>
                  <a:srgbClr val="FF6B8A"/>
                </a:solidFill>
              </a:defRPr>
            </a:pPr>
            <a:r>
              <a:t>我的策略思考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CCCCCC"/>
                </a:solidFill>
              </a:defRPr>
            </a:pPr>
            <a:r>
              <a:t>金字塔模型的核心不是</a:t>
            </a:r>
          </a:p>
          <a:p>
            <a:pPr algn="l">
              <a:spcBef>
                <a:spcPts val="0"/>
              </a:spcBef>
              <a:defRPr sz="1200" b="0">
                <a:solidFill>
                  <a:srgbClr val="CCCCCC"/>
                </a:solidFill>
              </a:defRPr>
            </a:pPr>
            <a:r>
              <a:t>均匀分配预算，而是根据</a:t>
            </a:r>
          </a:p>
          <a:p>
            <a:pPr algn="l">
              <a:spcBef>
                <a:spcPts val="0"/>
              </a:spcBef>
              <a:defRPr sz="1200" b="0">
                <a:solidFill>
                  <a:srgbClr val="CCCCCC"/>
                </a:solidFill>
              </a:defRPr>
            </a:pPr>
            <a:r>
              <a:t>品牌阶段动态调整比例。</a:t>
            </a:r>
          </a:p>
          <a:p>
            <a:pPr algn="l">
              <a:spcBef>
                <a:spcPts val="12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4EC9B0"/>
                </a:solidFill>
              </a:defRPr>
            </a:pPr>
            <a:r>
              <a:t>新品牌：KOC铺量 &gt; 腰部 &gt; 头部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FF6B8A"/>
                </a:solidFill>
              </a:defRPr>
            </a:pPr>
            <a:r>
              <a:t>成熟品牌：头部造势 &gt; 腰部 &gt; KOC SEO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BB86FC"/>
                </a:solidFill>
              </a:defRPr>
            </a:pPr>
            <a:r>
              <a:t>增长期品牌：腰部为核心，上下延伸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9144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6B8A"/>
                </a:solidFill>
              </a:defRPr>
            </a:pPr>
            <a:r>
              <a:t>03</a:t>
            </a:r>
          </a:p>
          <a:p>
            <a:pPr algn="l">
              <a:spcBef>
                <a:spcPts val="0"/>
              </a:spcBef>
              <a:defRPr sz="32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828800" cy="29260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</a:defRPr>
            </a:pPr>
            <a:r>
              <a:t>信任型内容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34640"/>
            <a:ext cx="54864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横向对比3-5款同类产品，突出自家优势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1">
                <a:solidFill>
                  <a:srgbClr val="9999AA"/>
                </a:solidFill>
              </a:defRPr>
            </a:pPr>
            <a:r>
              <a:t>示例：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463040"/>
            <a:ext cx="1828800" cy="29260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6002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9659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</a:defRPr>
            </a:pPr>
            <a:r>
              <a:t>场景化教学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331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834640"/>
            <a:ext cx="54864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9718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118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1">
                <a:solidFill>
                  <a:srgbClr val="9999AA"/>
                </a:solidFill>
              </a:defRPr>
            </a:pPr>
            <a:r>
              <a:t>示例：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463040"/>
            <a:ext cx="1828800" cy="29260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6002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19659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</a:defRPr>
            </a:pPr>
            <a:r>
              <a:t>情感型内容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331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2834640"/>
            <a:ext cx="54864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29718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6118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1">
                <a:solidFill>
                  <a:srgbClr val="9999AA"/>
                </a:solidFill>
              </a:defRPr>
            </a:pPr>
            <a:r>
              <a:t>示例：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1463040"/>
            <a:ext cx="1828800" cy="29260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6002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9659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999AA"/>
                </a:solidFill>
              </a:defRPr>
            </a:pPr>
            <a:r>
              <a:t>成分科普·选购指南·避坑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331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2834640"/>
            <a:ext cx="54864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29718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6118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1">
                <a:solidFill>
                  <a:srgbClr val="9999AA"/>
                </a:solidFill>
              </a:defRPr>
            </a:pPr>
            <a:r>
              <a:t>示例：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</a:defRPr>
            </a:pPr>
            <a:r>
              <a:t>建立品牌专业形象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600" b="1">
                <a:solidFill>
                  <a:srgbClr val="FF6B8A"/>
                </a:solidFill>
              </a:defRPr>
            </a:pPr>
            <a:r>
              <a:t>关键发现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394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4EC9B0"/>
                </a:solidFill>
              </a:defRPr>
            </a:pPr>
            <a:r>
              <a:t>我的判断：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CCCCCC"/>
                </a:solidFill>
              </a:defRPr>
            </a:pPr>
            <a:r>
              <a:t>教程类和测评类合计占55%，是美妆赛道的核心内容类型。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</a:defRPr>
            </a:pPr>
            <a:r>
              <a:t>但故事类的互动成本最低、传播效率最高——适合新品冷启动阶段制造话题。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9144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6B8A"/>
                </a:solidFill>
              </a:defRPr>
            </a:pPr>
            <a:r>
              <a:t>04</a:t>
            </a:r>
          </a:p>
          <a:p>
            <a:pPr algn="l">
              <a:spcBef>
                <a:spcPts val="0"/>
              </a:spcBef>
              <a:defRPr sz="32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4周Campaign SOP框架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828800" cy="54864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第1周</a:t>
            </a:r>
          </a:p>
          <a:p>
            <a:pPr algn="l">
              <a:spcBef>
                <a:spcPts val="0"/>
              </a:spcBef>
              <a:defRPr sz="1400" b="0">
                <a:solidFill>
                  <a:srgbClr val="9999AA"/>
                </a:solidFill>
              </a:defRPr>
            </a:pPr>
            <a:r>
              <a:t>蓄水期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8288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554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1200" b="1">
                <a:solidFill>
                  <a:srgbClr val="F0F0F5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F0F0F5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F0F0F5"/>
                </a:solidFill>
              </a:defRPr>
            </a:pPr>
            <a:r>
              <a:t>▸ 品牌词SEO占位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463040"/>
            <a:ext cx="1828800" cy="54864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508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第2周</a:t>
            </a:r>
          </a:p>
          <a:p>
            <a:pPr algn="l">
              <a:spcBef>
                <a:spcPts val="0"/>
              </a:spcBef>
              <a:defRPr sz="1400" b="0">
                <a:solidFill>
                  <a:srgbClr val="9999AA"/>
                </a:solidFill>
              </a:defRPr>
            </a:pPr>
            <a:r>
              <a:t>爆发期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560320"/>
            <a:ext cx="18288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697480"/>
            <a:ext cx="1554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1200" b="1">
                <a:solidFill>
                  <a:srgbClr val="F0F0F5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F0F0F5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F0F0F5"/>
                </a:solidFill>
              </a:defRPr>
            </a:pPr>
            <a:r>
              <a:t>▸ 信息流投放加码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463040"/>
            <a:ext cx="1828800" cy="54864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508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第3周</a:t>
            </a:r>
          </a:p>
          <a:p>
            <a:pPr algn="l">
              <a:spcBef>
                <a:spcPts val="0"/>
              </a:spcBef>
              <a:defRPr sz="1400" b="0">
                <a:solidFill>
                  <a:srgbClr val="9999AA"/>
                </a:solidFill>
              </a:defRPr>
            </a:pPr>
            <a:r>
              <a:t>扩散期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560320"/>
            <a:ext cx="18288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2697480"/>
            <a:ext cx="1554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1200" b="1">
                <a:solidFill>
                  <a:srgbClr val="F0F0F5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F0F0F5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F0F0F5"/>
                </a:solidFill>
              </a:defRPr>
            </a:pPr>
            <a:r>
              <a:t>▸ 评论区运营引导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463040"/>
            <a:ext cx="1828800" cy="5486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508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第4周</a:t>
            </a:r>
          </a:p>
          <a:p>
            <a:pPr algn="l">
              <a:spcBef>
                <a:spcPts val="0"/>
              </a:spcBef>
              <a:defRPr sz="1400" b="0">
                <a:solidFill>
                  <a:srgbClr val="9999AA"/>
                </a:solidFill>
              </a:defRPr>
            </a:pPr>
            <a:r>
              <a:t>复盘期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560320"/>
            <a:ext cx="1828800" cy="21945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697480"/>
            <a:ext cx="1554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1200" b="1">
                <a:solidFill>
                  <a:srgbClr val="F0F0F5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F0F0F5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F0F0F5"/>
                </a:solidFill>
              </a:defRPr>
            </a:pPr>
            <a:r>
              <a:t>▸ 沉淀SOP与达人库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37760"/>
            <a:ext cx="1828800" cy="11887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4937760"/>
            <a:ext cx="1828800" cy="11887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983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3035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4937760"/>
            <a:ext cx="1828800" cy="11887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4983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3035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937760"/>
            <a:ext cx="1828800" cy="11887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983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30352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8046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核心逻辑：预算分配遵循「前低→中高→中→收尾」曲线，爆发期投入最大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9144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6B8A"/>
                </a:solidFill>
              </a:defRPr>
            </a:pPr>
            <a:r>
              <a:t>05</a:t>
            </a:r>
          </a:p>
          <a:p>
            <a:pPr algn="l">
              <a:spcBef>
                <a:spcPts val="0"/>
              </a:spcBef>
              <a:defRPr sz="32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从执行经验到策略能力的迁移映射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8046720" cy="6400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30+品牌客户对接执行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6420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6420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达人招募与需求沟通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6400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4144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2000万+广告流水管理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44144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44144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8046720" cy="6400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SOP流程搭建（抖音/百度）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21868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1868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8046720" cy="6400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9592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数据归因分析 &amp; ROI优化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99592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99592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8046720" cy="6400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7316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跨部门协同（设计/媒介/财务）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773168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773168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内容审核与出品把控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2200" b="1">
                <a:solidFill>
                  <a:srgbClr val="FF6B8A"/>
                </a:solidFill>
              </a:defRPr>
            </a:pPr>
            <a:r>
              <a:t>我的核心优势</a:t>
            </a:r>
          </a:p>
          <a:p>
            <a:pPr algn="l">
              <a:spcBef>
                <a:spcPts val="12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不是只做执行的人——而是能从品牌视角理解平台逻辑，</a:t>
            </a:r>
          </a:p>
          <a:p>
            <a:pPr algn="l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推动营销闭环的项目经理。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600" b="1">
                <a:solidFill>
                  <a:srgbClr val="4EC9B0"/>
                </a:solidFill>
              </a:defRPr>
            </a:pPr>
            <a:r>
              <a:t>关键经验</a:t>
            </a:r>
          </a:p>
          <a:p>
            <a:pPr algn="l">
              <a:spcBef>
                <a:spcPts val="8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CCCCCC"/>
                </a:solidFill>
              </a:defRPr>
            </a:pPr>
            <a:r>
              <a:t>9年互联网广告经验 · 服务过腾讯、字节、百度、荣耀等平台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t>熟悉各平台媒介执行全流程，从策略制定到落地复盘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CCCCC"/>
                </a:solidFill>
              </a:defRPr>
            </a:pPr>
            <a:r>
              <a:t>小红书深度用户，持续跟踪平台规则变化与内容趋势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