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54864" cy="18288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B8A"/>
                </a:solidFill>
                <a:latin typeface="Microsoft YaHei"/>
              </a:rPr>
              <a:t>小红书</a:t>
            </a:r>
          </a:p>
          <a:p>
            <a:pPr>
              <a:spcBef>
                <a:spcPts val="200"/>
              </a:spcBef>
            </a:pPr>
            <a:r>
              <a:rPr sz="5200" b="1">
                <a:solidFill>
                  <a:srgbClr val="FFFFFF"/>
                </a:solidFill>
                <a:latin typeface="Microsoft YaHei"/>
              </a:rPr>
              <a:t>美妆赛道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ECDC4"/>
                </a:solidFill>
                <a:latin typeface="Microsoft YaHei"/>
              </a:rPr>
              <a:t>大达人投放策略 · 个人案例作品集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97680"/>
            <a:ext cx="2743200" cy="18288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999999"/>
                </a:solidFill>
                <a:latin typeface="Microsoft YaHei"/>
              </a:rPr>
              <a:t>平台洞察  ·  达人矩阵  ·  内容拆解  ·  投放SOP  ·  数据归因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828800"/>
            <a:ext cx="2743200" cy="29260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6B8A"/>
                </a:solidFill>
                <a:latin typeface="Microsoft YaHei"/>
              </a:rPr>
              <a:t>Portfolio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ctr"/>
            <a:r>
              <a:rPr sz="3600" b="1">
                <a:solidFill>
                  <a:srgbClr val="FFFFFF"/>
                </a:solidFill>
                <a:latin typeface="Microsoft YaHei"/>
              </a:rPr>
              <a:t>9年</a:t>
            </a:r>
          </a:p>
          <a:p>
            <a:pPr algn="ctr"/>
            <a:r>
              <a:rPr sz="1400" b="0">
                <a:solidFill>
                  <a:srgbClr val="CCCCCC"/>
                </a:solidFill>
                <a:latin typeface="Microsoft YaHei"/>
              </a:rPr>
              <a:t>互联网广告经验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Microsoft YaHei"/>
              </a:rPr>
              <a:t/>
            </a:r>
          </a:p>
          <a:p>
            <a:pPr algn="ctr"/>
            <a:r>
              <a:rPr sz="1100" b="0">
                <a:solidFill>
                  <a:srgbClr val="4ECDC4"/>
                </a:solidFill>
                <a:latin typeface="Microsoft YaHei"/>
              </a:rPr>
              <a:t>腾讯 · 字节 · 百度 · 荣耀</a:t>
            </a:r>
          </a:p>
          <a:p>
            <a:pPr algn="ctr"/>
            <a:r>
              <a:rPr sz="1100" b="0">
                <a:solidFill>
                  <a:srgbClr val="999999"/>
                </a:solidFill>
                <a:latin typeface="Microsoft YaHei"/>
              </a:rPr>
              <a:t>平台深度实践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>
                <a:solidFill>
                  <a:srgbClr val="999999"/>
                </a:solidFill>
                <a:latin typeface="Arial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65760" cy="3657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822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20116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6B8A"/>
                </a:solidFill>
                <a:latin typeface="Arial"/>
              </a:rPr>
              <a:t>3.2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次平均搜索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99999"/>
                </a:solidFill>
                <a:latin typeface="Microsoft YaHei"/>
              </a:rPr>
              <a:t>搜索驱动决策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美妆用户平均搜索3.2次后才完成购买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0116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4ECDC4"/>
                </a:solidFill>
                <a:latin typeface="Arial"/>
              </a:rPr>
              <a:t>73%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用户偏好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99999"/>
                </a:solidFill>
                <a:latin typeface="Microsoft YaHei"/>
              </a:rPr>
              <a:t>真实体验优先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素人笔记信任度高于明星代言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63040"/>
            <a:ext cx="3474720" cy="20116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3600" b="1">
                <a:solidFill>
                  <a:srgbClr val="FFE66D"/>
                </a:solidFill>
                <a:latin typeface="Arial"/>
              </a:rPr>
              <a:t>多层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圈层分化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999999"/>
                </a:solidFill>
                <a:latin typeface="Microsoft YaHei"/>
              </a:rPr>
              <a:t>精准定向投放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成分党、敏感肌、抗老需精准投放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种草→转化路径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06240"/>
            <a:ext cx="2651760" cy="16459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6B8A"/>
                </a:solidFill>
                <a:latin typeface="Arial"/>
              </a:rPr>
              <a:t>100%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曝光触达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信息流 / 搜索 / 话题页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206240"/>
            <a:ext cx="2651760" cy="16459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ECDC4"/>
                </a:solidFill>
                <a:latin typeface="Arial"/>
              </a:rPr>
              <a:t>42%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互动收藏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点赞 · 收藏 · 评论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06240"/>
            <a:ext cx="2651760" cy="16459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E66D"/>
                </a:solidFill>
                <a:latin typeface="Arial"/>
              </a:rPr>
              <a:t>18%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搜索加深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品牌词 / 竞品词搜索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4206240"/>
            <a:ext cx="2651760" cy="16459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E6CF"/>
                </a:solidFill>
                <a:latin typeface="Arial"/>
              </a:rPr>
              <a:t>7%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站外转化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跳转电商 / 到店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数据来源：小红书官方数据报告、蝉妈妈、千瓜数据等第三方平台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达人矩阵策略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金字塔分层打法：不同层级达人的角色与执行要点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3566160" cy="29260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B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B88BFF"/>
                </a:solidFill>
                <a:latin typeface="Microsoft YaHei"/>
              </a:rPr>
              <a:t>头部达人  50W+粉丝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大曝光 · 品牌声量</a:t>
            </a:r>
          </a:p>
          <a:p>
            <a:pPr>
              <a:spcBef>
                <a:spcPts val="800"/>
              </a:spcBef>
            </a:pPr>
            <a:r>
              <a:rPr sz="800">
                <a:solidFill>
                  <a:srgbClr val="B88BFF"/>
                </a:solidFill>
                <a:latin typeface="Microsoft YaHei"/>
              </a:rPr>
              <a:t>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筛选：粉丝量级 × 互动率 × 画像匹配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近30天垂直度 ≥ 80%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口碑评估与历史合作复盘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566160" cy="29260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4ECDC4"/>
                </a:solidFill>
                <a:latin typeface="Microsoft YaHei"/>
              </a:rPr>
              <a:t>腰部达人  5W–50W粉丝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深度种草 · 信任转化</a:t>
            </a:r>
          </a:p>
          <a:p>
            <a:pPr>
              <a:spcBef>
                <a:spcPts val="800"/>
              </a:spcBef>
            </a:pPr>
            <a:r>
              <a:rPr sz="800">
                <a:solidFill>
                  <a:srgbClr val="4ECDC4"/>
                </a:solidFill>
                <a:latin typeface="Microsoft YaHei"/>
              </a:rPr>
              <a:t>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分级报价体系，设合作上限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批量采购折扣（10篇+）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置换+费用组合降本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566160" cy="292608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A8E6CF"/>
                </a:solidFill>
                <a:latin typeface="Microsoft YaHei"/>
              </a:rPr>
              <a:t>KOC / 素人  60-75W篇/月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海量铺量 · SEO占位</a:t>
            </a:r>
          </a:p>
          <a:p>
            <a:pPr>
              <a:spcBef>
                <a:spcPts val="800"/>
              </a:spcBef>
            </a:pPr>
            <a:r>
              <a:rPr sz="800">
                <a:solidFill>
                  <a:srgbClr val="A8E6CF"/>
                </a:solidFill>
                <a:latin typeface="Microsoft YaHei"/>
              </a:rPr>
              <a:t>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Brief给方向不给限制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保留达人原创表达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设3个必提卖点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5029200" cy="201168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6B8A"/>
                </a:solidFill>
                <a:latin typeface="Microsoft YaHei"/>
              </a:rPr>
              <a:t>💡 我的方法论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金字塔模型的核心不是均匀分配预算，而是根据品牌阶段动态调整比例：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■ 新品牌项目：KOC先行测试 → 腰部放大 → 头部造势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■ 成熟品牌：头部维持声量 → 腰部抓转化 → KOC铺量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■ 品类拓展：跨界达人破圈 → 垂类达人承接 → KOC发酵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4389120"/>
            <a:ext cx="3200400" cy="201168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4ECDC4"/>
                </a:solidFill>
                <a:latin typeface="Microsoft YaHei"/>
              </a:rPr>
              <a:t>📌 实战经验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• 冷启动：KOC测内容方向，验证后放大腰部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• 稳定期：头部控调性，腰部抓转化</a:t>
            </a:r>
          </a:p>
          <a:p>
            <a:pPr>
              <a:spcBef>
                <a:spcPts val="5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• 增长期：腰部达人扩圈，KOC铺量占位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4389120"/>
            <a:ext cx="2468880" cy="201168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E66D"/>
                </a:solidFill>
                <a:latin typeface="Microsoft YaHei"/>
              </a:rPr>
              <a:t>关键指标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曝光覆盖率</a:t>
            </a:r>
            <a:r>
              <a:rPr sz="1600" b="1">
                <a:solidFill>
                  <a:srgbClr val="B88BFF"/>
                </a:solidFill>
                <a:latin typeface="Arial"/>
              </a:rPr>
              <a:t>  ≥ 80%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互动率</a:t>
            </a:r>
            <a:r>
              <a:rPr sz="1600" b="1">
                <a:solidFill>
                  <a:srgbClr val="4ECDC4"/>
                </a:solidFill>
                <a:latin typeface="Arial"/>
              </a:rPr>
              <a:t>  ≥ 3%</a:t>
            </a:r>
          </a:p>
          <a:p>
            <a:pPr algn="ctr">
              <a:spcBef>
                <a:spcPts val="800"/>
              </a:spcBef>
            </a:pPr>
            <a:r>
              <a:rPr sz="1000">
                <a:solidFill>
                  <a:srgbClr val="999999"/>
                </a:solidFill>
                <a:latin typeface="Microsoft YaHei"/>
              </a:rPr>
              <a:t>ROI</a:t>
            </a:r>
            <a:r>
              <a:rPr sz="1600" b="1">
                <a:solidFill>
                  <a:srgbClr val="A8E6CF"/>
                </a:solidFill>
                <a:latin typeface="Arial"/>
              </a:rPr>
              <a:t>  ≥ 1.5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内容方向拆解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爆款笔记的四类结构拆解与投放逻辑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394960" cy="237744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B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B88BFF"/>
                </a:solidFill>
                <a:latin typeface="Microsoft YaHei"/>
              </a:rPr>
              <a:t>测评类    25%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信任型内容</a:t>
            </a:r>
          </a:p>
          <a:p>
            <a:pPr>
              <a:spcBef>
                <a:spcPts val="600"/>
              </a:spcBef>
            </a:pPr>
            <a:r>
              <a:rPr sz="800">
                <a:solidFill>
                  <a:srgbClr val="B88BFF"/>
                </a:solidFill>
                <a:latin typeface="Microsoft YaHei"/>
              </a:rPr>
              <a:t>─────────────────────────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横向对比3-5款同类产品，突出优势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空瓶记式真实使用记录，前后对比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适合：功效型产品、新品上市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237744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4ECDC4"/>
                </a:solidFill>
                <a:latin typeface="Microsoft YaHei"/>
              </a:rPr>
              <a:t>教程类    30%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场景化教学</a:t>
            </a:r>
          </a:p>
          <a:p>
            <a:pPr>
              <a:spcBef>
                <a:spcPts val="600"/>
              </a:spcBef>
            </a:pPr>
            <a:r>
              <a:rPr sz="800">
                <a:solidFill>
                  <a:srgbClr val="4ECDC4"/>
                </a:solidFill>
                <a:latin typeface="Microsoft YaHei"/>
              </a:rPr>
              <a:t>─────────────────────────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如早C晚A搭配指南，步骤清晰可复制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收藏率高，实用性强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适合：护肤流程、彩妆技巧类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394960" cy="237744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FFE66D"/>
                </a:solidFill>
                <a:latin typeface="Microsoft YaHei"/>
              </a:rPr>
              <a:t>故事类    20%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情感型内容</a:t>
            </a:r>
          </a:p>
          <a:p>
            <a:pPr>
              <a:spcBef>
                <a:spcPts val="600"/>
              </a:spcBef>
            </a:pPr>
            <a:r>
              <a:rPr sz="800">
                <a:solidFill>
                  <a:srgbClr val="FFE66D"/>
                </a:solidFill>
                <a:latin typeface="Microsoft YaHei"/>
              </a:rPr>
              <a:t>─────────────────────────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个人经历+产品融入，如敏感肌自救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引发共鸣，评论区互动率高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适合：新品冷启动制造话题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394960" cy="237744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000" b="1">
                <a:solidFill>
                  <a:srgbClr val="A8E6CF"/>
                </a:solidFill>
                <a:latin typeface="Microsoft YaHei"/>
              </a:rPr>
              <a:t>干货类    25%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成分科普·选购指南</a:t>
            </a:r>
          </a:p>
          <a:p>
            <a:pPr>
              <a:spcBef>
                <a:spcPts val="600"/>
              </a:spcBef>
            </a:pPr>
            <a:r>
              <a:rPr sz="800">
                <a:solidFill>
                  <a:srgbClr val="A8E6CF"/>
                </a:solidFill>
                <a:latin typeface="Microsoft YaHei"/>
              </a:rPr>
              <a:t>─────────────────────────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长尾流量好，搜索排名持续生效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建立品牌专业形象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• 适合：成分党、功效型品牌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6126480"/>
            <a:ext cx="11247120" cy="5029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CCCCCC"/>
                </a:solidFill>
                <a:latin typeface="Microsoft YaHei"/>
              </a:rPr>
              <a:t>💡 我的判断：教程类和测评类合计占55%，是核心内容类型；但故事类互动成本最低——适合新品冷启动制造话题。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投放节奏与预算分配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4周投放节奏框架与效果追踪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20"/>
            <a:ext cx="2651760" cy="32004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6B8A"/>
                </a:solidFill>
                <a:latin typeface="Arial"/>
              </a:rPr>
              <a:t>15%</a:t>
            </a:r>
          </a:p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第1周</a:t>
            </a:r>
          </a:p>
          <a:p>
            <a:pPr algn="ctr"/>
            <a:r>
              <a:rPr sz="1300" b="1">
                <a:solidFill>
                  <a:srgbClr val="FF6B8A"/>
                </a:solidFill>
                <a:latin typeface="Microsoft YaHei"/>
              </a:rPr>
              <a:t>蓄水期</a:t>
            </a:r>
          </a:p>
          <a:p>
            <a:pPr>
              <a:spcBef>
                <a:spcPts val="800"/>
              </a:spcBef>
            </a:pPr>
            <a:r>
              <a:rPr sz="800">
                <a:solidFill>
                  <a:srgbClr val="FF6B8A"/>
                </a:solidFill>
                <a:latin typeface="Microsoft YaHei"/>
              </a:rPr>
              <a:t>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达人招募与brief下发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种子笔记铺垫（10-15篇）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品牌词SEO占位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32004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4ECDC4"/>
                </a:solidFill>
                <a:latin typeface="Arial"/>
              </a:rPr>
              <a:t>45%</a:t>
            </a:r>
          </a:p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第2周</a:t>
            </a:r>
          </a:p>
          <a:p>
            <a:pPr algn="ctr"/>
            <a:r>
              <a:rPr sz="1300" b="1">
                <a:solidFill>
                  <a:srgbClr val="4ECDC4"/>
                </a:solidFill>
                <a:latin typeface="Microsoft YaHei"/>
              </a:rPr>
              <a:t>爆发期</a:t>
            </a:r>
          </a:p>
          <a:p>
            <a:pPr>
              <a:spcBef>
                <a:spcPts val="800"/>
              </a:spcBef>
            </a:pPr>
            <a:r>
              <a:rPr sz="800">
                <a:solidFill>
                  <a:srgbClr val="4ECDC4"/>
                </a:solidFill>
                <a:latin typeface="Microsoft YaHei"/>
              </a:rPr>
              <a:t>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腰部达人集中发布（30-50篇）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头部达人引爆声量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信息流投放加码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2651760" cy="32004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E66D"/>
                </a:solidFill>
                <a:latin typeface="Arial"/>
              </a:rPr>
              <a:t>25%</a:t>
            </a:r>
          </a:p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第3周</a:t>
            </a:r>
          </a:p>
          <a:p>
            <a:pPr algn="ctr"/>
            <a:r>
              <a:rPr sz="1300" b="1">
                <a:solidFill>
                  <a:srgbClr val="FFE66D"/>
                </a:solidFill>
                <a:latin typeface="Microsoft YaHei"/>
              </a:rPr>
              <a:t>扩散期</a:t>
            </a:r>
          </a:p>
          <a:p>
            <a:pPr>
              <a:spcBef>
                <a:spcPts val="800"/>
              </a:spcBef>
            </a:pPr>
            <a:r>
              <a:rPr sz="800">
                <a:solidFill>
                  <a:srgbClr val="FFE66D"/>
                </a:solidFill>
                <a:latin typeface="Microsoft YaHei"/>
              </a:rPr>
              <a:t>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KOC铺量（100+篇）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UGC话题挑战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评论区运营引导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188720"/>
            <a:ext cx="2651760" cy="32004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A8E6CF"/>
                </a:solidFill>
                <a:latin typeface="Arial"/>
              </a:rPr>
              <a:t>15%</a:t>
            </a:r>
          </a:p>
          <a:p>
            <a:pPr algn="ctr">
              <a:spcBef>
                <a:spcPts val="200"/>
              </a:spcBef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第4周</a:t>
            </a:r>
          </a:p>
          <a:p>
            <a:pPr algn="ctr"/>
            <a:r>
              <a:rPr sz="1300" b="1">
                <a:solidFill>
                  <a:srgbClr val="A8E6CF"/>
                </a:solidFill>
                <a:latin typeface="Microsoft YaHei"/>
              </a:rPr>
              <a:t>复盘期</a:t>
            </a:r>
          </a:p>
          <a:p>
            <a:pPr>
              <a:spcBef>
                <a:spcPts val="800"/>
              </a:spcBef>
            </a:pPr>
            <a:r>
              <a:rPr sz="800">
                <a:solidFill>
                  <a:srgbClr val="A8E6CF"/>
                </a:solidFill>
                <a:latin typeface="Microsoft YaHei"/>
              </a:rPr>
              <a:t>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数据追踪与效果归因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优质内容二次投放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▸ 沉淀SOP与达人库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63440"/>
            <a:ext cx="2651760" cy="7315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999999"/>
                </a:solidFill>
                <a:latin typeface="Microsoft YaHei"/>
              </a:rPr>
              <a:t>曝光量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FF6B8A"/>
                </a:solidFill>
                <a:latin typeface="Microsoft YaHei"/>
              </a:rPr>
              <a:t>达成目标覆盖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663440"/>
            <a:ext cx="2651760" cy="7315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999999"/>
                </a:solidFill>
                <a:latin typeface="Microsoft YaHei"/>
              </a:rPr>
              <a:t>互动率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4ECDC4"/>
                </a:solidFill>
                <a:latin typeface="Microsoft YaHei"/>
              </a:rPr>
              <a:t>≥ 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663440"/>
            <a:ext cx="2651760" cy="7315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999999"/>
                </a:solidFill>
                <a:latin typeface="Microsoft YaHei"/>
              </a:rPr>
              <a:t>搜索排名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FFE66D"/>
                </a:solidFill>
                <a:latin typeface="Microsoft YaHei"/>
              </a:rPr>
              <a:t>品牌词 TOP3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663440"/>
            <a:ext cx="2651760" cy="7315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999999"/>
                </a:solidFill>
                <a:latin typeface="Microsoft YaHei"/>
              </a:rPr>
              <a:t>ROI</a:t>
            </a:r>
          </a:p>
          <a:p>
            <a:pPr algn="ctr">
              <a:spcBef>
                <a:spcPts val="200"/>
              </a:spcBef>
            </a:pPr>
            <a:r>
              <a:rPr sz="1600" b="1">
                <a:solidFill>
                  <a:srgbClr val="A8E6CF"/>
                </a:solidFill>
                <a:latin typeface="Microsoft YaHei"/>
              </a:rPr>
              <a:t>≥ 1.5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69280"/>
            <a:ext cx="11247120" cy="82296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B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B88BFF"/>
                </a:solidFill>
                <a:latin typeface="Microsoft YaHei"/>
              </a:rPr>
              <a:t>💡 实战经验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• 爆发期前预留3天预热素材  •  复盘期重点关注ROI低于1.2的渠道  •  优质内容二次投放延长长尾效应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方法论沉淀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40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Microsoft YaHei"/>
              </a:rPr>
              <a:t>从执行到策略的能力迁移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167" y="1188720"/>
            <a:ext cx="1920240" cy="13716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B8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B88BFF"/>
                </a:solidFill>
                <a:latin typeface="Microsoft YaHei"/>
              </a:rPr>
              <a:t>30+品牌客户
对接执行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达人招募与需求沟通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758986000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9999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5447" y="1188720"/>
            <a:ext cx="1920240" cy="13716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4ECDC4"/>
                </a:solidFill>
                <a:latin typeface="Microsoft YaHei"/>
              </a:rPr>
              <a:t>2000万+
广告流水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预算分配与报价管控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5271018000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9999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35727" y="1188720"/>
            <a:ext cx="1920240" cy="13716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E66D"/>
                </a:solidFill>
                <a:latin typeface="Microsoft YaHei"/>
              </a:rPr>
              <a:t>SOP流程搭建
（抖音/百度/小红书）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小红书媒介执行SOP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3783050000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9999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6007" y="1188720"/>
            <a:ext cx="1920240" cy="13716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A8E6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A8E6CF"/>
                </a:solidFill>
                <a:latin typeface="Microsoft YaHei"/>
              </a:rPr>
              <a:t>数据归因分析
&amp; ROI优化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投放效果追踪与复盘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2295082000" y="16459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9999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16287" y="1188720"/>
            <a:ext cx="1920240" cy="137160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A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A07A"/>
                </a:solidFill>
                <a:latin typeface="Microsoft YaHei"/>
              </a:rPr>
              <a:t>跨部门协同
（设计/媒介/财务）</a:t>
            </a:r>
          </a:p>
          <a:p>
            <a:pPr algn="ctr">
              <a:spcBef>
                <a:spcPts val="400"/>
              </a:spcBef>
            </a:pPr>
            <a:r>
              <a:rPr sz="1000">
                <a:solidFill>
                  <a:srgbClr val="CCCCCC"/>
                </a:solidFill>
                <a:latin typeface="Microsoft YaHei"/>
              </a:rPr>
              <a:t>内容审核与出品把控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34640"/>
            <a:ext cx="11247120" cy="731520"/>
          </a:xfrm>
          <a:prstGeom prst="roundRect">
            <a:avLst/>
          </a:prstGeom>
          <a:solidFill>
            <a:srgbClr val="222244"/>
          </a:solidFill>
          <a:ln w="254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6B8A"/>
                </a:solidFill>
                <a:latin typeface="Microsoft YaHei"/>
              </a:rPr>
              <a:t>我的核心优势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Microsoft YaHei"/>
              </a:rPr>
              <a:t>不是只做执行的人——而是能从品牌视角理解平台逻辑，推动营销闭环的项目经理。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5303520" cy="25603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4ECDC4"/>
                </a:solidFill>
                <a:latin typeface="Microsoft YaHei"/>
              </a:rPr>
              <a:t>📋 核心能力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 达人矩阵方案制定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 投放SOP文档搭建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 效果归因与数据分析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 品牌内容策略规划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 跨平台媒介协同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CCCC"/>
                </a:solidFill>
                <a:latin typeface="Microsoft YaHei"/>
              </a:rPr>
              <a:t>▸  预算管控与报价体系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840480"/>
            <a:ext cx="5577840" cy="2560320"/>
          </a:xfrm>
          <a:prstGeom prst="roundRect">
            <a:avLst/>
          </a:prstGeom>
          <a:solidFill>
            <a:srgbClr val="222244"/>
          </a:solidFill>
          <a:ln w="19050">
            <a:solidFill>
              <a:srgbClr val="FFE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E66D"/>
                </a:solidFill>
                <a:latin typeface="Microsoft YaHei"/>
              </a:rPr>
              <a:t>🎯 关于我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6B8A"/>
                </a:solidFill>
                <a:latin typeface="Microsoft YaHei"/>
              </a:rPr>
              <a:t>•  9年互联网广告经验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4ECDC4"/>
                </a:solidFill>
                <a:latin typeface="Microsoft YaHei"/>
              </a:rPr>
              <a:t>•  深耕美妆赛道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A8E6CF"/>
                </a:solidFill>
                <a:latin typeface="Microsoft YaHei"/>
              </a:rPr>
              <a:t>•  擅长达人投放与媒介策略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B88BFF"/>
                </a:solidFill>
                <a:latin typeface="Microsoft YaHei"/>
              </a:rPr>
              <a:t>•  熟悉腾讯·字节·百度·荣耀等平台生态</a:t>
            </a:r>
          </a:p>
          <a:p>
            <a:pPr>
              <a:spcBef>
                <a:spcPts val="600"/>
              </a:spcBef>
            </a:pPr>
            <a:r>
              <a:rPr sz="1200" b="1">
                <a:solidFill>
                  <a:srgbClr val="FFA07A"/>
                </a:solidFill>
                <a:latin typeface="Microsoft YaHei"/>
              </a:rPr>
              <a:t>•  具备从策略到执行的全链路能力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Microsoft YaHei"/>
              </a:rPr>
              <a:t>小红书美妆赛道 · 个人案例作品集 ·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