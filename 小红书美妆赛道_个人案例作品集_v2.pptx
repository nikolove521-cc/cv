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4572000" cy="45720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914400"/>
            <a:ext cx="3291840" cy="329184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1371600"/>
            <a:ext cx="27432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0" y="1417320"/>
            <a:ext cx="22860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5907024"/>
            <a:ext cx="73152" cy="7315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9344" y="5907024"/>
            <a:ext cx="73152" cy="7315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3664" y="5907024"/>
            <a:ext cx="73152" cy="7315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6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64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40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2743200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2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2926080" cy="3200400"/>
          </a:xfrm>
          <a:prstGeom prst="roundRect">
            <a:avLst/>
          </a:prstGeom>
          <a:solidFill>
            <a:srgbClr val="1E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103120"/>
            <a:ext cx="219456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48840"/>
            <a:ext cx="16459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774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474720"/>
            <a:ext cx="36576" cy="3657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4930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547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069080"/>
            <a:ext cx="36576" cy="3657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0873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142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4663440"/>
            <a:ext cx="36576" cy="3657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6817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7365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6B8A"/>
                </a:solidFill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468880" cy="2194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4572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6B8A"/>
                </a:solidFill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美妆用户平均搜索3.2次后才完成购买，关键词布局是投放的第一步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280160"/>
            <a:ext cx="2468880" cy="2194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4572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554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4EC9B0"/>
                </a:solidFill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745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317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5603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9260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美妆消费者决策前会先在小红书搜索，素人笔记信任度高于明星代言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1280160"/>
            <a:ext cx="2468880" cy="2194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1417320"/>
            <a:ext cx="4572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554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B86FC"/>
                </a:solidFill>
              </a:defRPr>
            </a:pPr>
            <a: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8745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3317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5603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92608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成分党、敏感肌、抗老等细分人群需求差异大，需精准定向投放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804672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49039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8046720" cy="10972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8046720" cy="1097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39319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</a:defRPr>
            </a:pPr>
            <a:r>
              <a:t>曝光触达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4160520"/>
            <a:ext cx="3379622" cy="10972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6531" y="39319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</a:defRPr>
            </a:pPr>
            <a:r>
              <a:t>互动收藏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3542" y="4160520"/>
            <a:ext cx="1448409" cy="10972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50547" y="39319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</a:defRPr>
            </a:pPr>
            <a:r>
              <a:t>搜索加深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31952" y="4160520"/>
            <a:ext cx="563270" cy="10972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56387" y="39319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888AA"/>
                </a:solidFill>
              </a:defRPr>
            </a:pPr>
            <a:r>
              <a:t>站外转化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8288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07992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920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4434840"/>
            <a:ext cx="18288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87168" y="4507992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7168" y="48920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51206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34256" y="4434840"/>
            <a:ext cx="18288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4507992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48920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5696" y="51206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72784" y="4434840"/>
            <a:ext cx="18288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4507992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48920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51206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577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数据来源：小红书美妆行业白皮书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6B8A"/>
                </a:solidFill>
              </a:defRPr>
            </a:pPr>
            <a:r>
              <a:t>02</a:t>
            </a:r>
          </a:p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731520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417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1148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1168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筛选：粉丝量级 × 互动率 × 画像匹配  ·  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近30天垂直度 ≥ 80%  ·  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过往品牌合作口碑评估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07208"/>
            <a:ext cx="731520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54864" cy="1417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944368"/>
            <a:ext cx="41148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4436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986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186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986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38728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建立分级报价体系，设单篇上限  ·  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批量采购享折扣（10篇+）  ·  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置换+费用组合降低CPM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34256"/>
            <a:ext cx="731520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34256"/>
            <a:ext cx="54864" cy="1417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471416"/>
            <a:ext cx="41148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71416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2569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457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4256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65776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Brief给方向不给限制  ·  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保留达人原创表达空间  ·  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E8E8F0"/>
                </a:solidFill>
              </a:defRPr>
            </a:pPr>
            <a:r>
              <a:t>▸ 设置3个必提卖点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37360"/>
            <a:ext cx="2560320" cy="43891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828800"/>
            <a:ext cx="22860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05740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5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金字塔模型的核心不是</a:t>
            </a: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均匀分配预算，而是根据</a:t>
            </a: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品牌阶段动态调整比例。</a:t>
            </a:r>
          </a:p>
          <a:p>
            <a:pPr algn="l">
              <a:spcBef>
                <a:spcPts val="1000"/>
              </a:spcBef>
              <a:defRPr sz="600" b="0">
                <a:solidFill>
                  <a:srgbClr val="FFFFFF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229600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新品牌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840480"/>
            <a:ext cx="2194560" cy="5486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840480"/>
            <a:ext cx="16053645312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2519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成熟品牌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526280"/>
            <a:ext cx="2194560" cy="5486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526280"/>
            <a:ext cx="10033528320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9377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增长期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212080"/>
            <a:ext cx="2194560" cy="5486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5212080"/>
            <a:ext cx="130435868160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6B8A"/>
                </a:solidFill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749039" cy="1965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" cy="19659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横向对比3-5款同类产品，突出自家优势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6032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234440"/>
            <a:ext cx="3749039" cy="1965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1234440"/>
            <a:ext cx="54864" cy="19659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19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17830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057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19" y="256032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262432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3749039" cy="1965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54864" cy="19659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20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31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70916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7316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19" y="3383280"/>
            <a:ext cx="3749039" cy="1965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19" y="3383280"/>
            <a:ext cx="54864" cy="1965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19" y="35204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19" y="3520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19" y="3931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19" y="4206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19" y="470916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19" y="4773168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8046720" cy="7315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394960"/>
            <a:ext cx="54864" cy="7315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44068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42432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💡 我的判断：教程类和测评类合计占55%，是核心内容类型；但故事类互动成本最低——适合新品冷启动制造话题。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6B8A"/>
                </a:solidFill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4周Campaign SOP框架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80467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874519" cy="50292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40"/>
            <a:ext cx="1874519" cy="1554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54680"/>
            <a:ext cx="165506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1920240"/>
            <a:ext cx="1874519" cy="50292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19" y="196596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246888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274320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79" y="3063240"/>
            <a:ext cx="1874519" cy="1554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8607" y="3154680"/>
            <a:ext cx="165506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8" y="1920240"/>
            <a:ext cx="1874519" cy="50292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8" y="196596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8" y="246888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8" y="274320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8" y="3063240"/>
            <a:ext cx="1874519" cy="1554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6" y="3154680"/>
            <a:ext cx="165506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37" y="1920240"/>
            <a:ext cx="1874519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7" y="196596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7" y="246888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37" y="274320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37" y="3063240"/>
            <a:ext cx="1874519" cy="1554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5" y="3154680"/>
            <a:ext cx="165506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1874519" cy="7772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54864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37760"/>
            <a:ext cx="16001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600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79" y="4892040"/>
            <a:ext cx="1874519" cy="7772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79" y="4892040"/>
            <a:ext cx="54864" cy="7772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59" y="4937760"/>
            <a:ext cx="16001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59" y="5212080"/>
            <a:ext cx="1600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58" y="4892040"/>
            <a:ext cx="1874519" cy="7772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58" y="4892040"/>
            <a:ext cx="54864" cy="7772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38" y="4937760"/>
            <a:ext cx="16001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8" y="5212080"/>
            <a:ext cx="1600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37" y="4892040"/>
            <a:ext cx="1874519" cy="7772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37" y="4892040"/>
            <a:ext cx="54864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17" y="4937760"/>
            <a:ext cx="16001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17" y="5212080"/>
            <a:ext cx="1600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06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核心逻辑：预算分配遵循「前低→中高→中→收尾」曲线，爆发期投入最大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6B8A"/>
                </a:solidFill>
              </a:defRPr>
            </a:pPr>
            <a:r>
              <a:t>05</a:t>
            </a:r>
          </a:p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804672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371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804672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54864" cy="5029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116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965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514600"/>
            <a:ext cx="804672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14600"/>
            <a:ext cx="54864" cy="502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877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06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SOP流程搭建（抖音/百度）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560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6060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08960"/>
            <a:ext cx="804672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82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154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04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03320"/>
            <a:ext cx="804672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54864" cy="5029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764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794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749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7947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8046720" cy="12801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54864" cy="1280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9776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34340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394960"/>
            <a:ext cx="2377440" cy="7315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406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760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394960"/>
            <a:ext cx="2377440" cy="7315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54406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</a:defRPr>
            </a:pPr>
            <a:r>
              <a:t>腾讯/字节/百度/荣耀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760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主流平台服务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5394960"/>
            <a:ext cx="2377440" cy="7315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4406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小红书深度用户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760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持续跟踪平台趋势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