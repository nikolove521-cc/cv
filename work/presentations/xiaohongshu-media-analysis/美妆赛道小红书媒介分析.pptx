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b5dae563045f2" /><Relationship Type="http://schemas.openxmlformats.org/officeDocument/2006/relationships/extended-properties" Target="/docProps/app.xml" Id="R4b0f64e96ffc42f4" /><Relationship Type="http://schemas.openxmlformats.org/officeDocument/2006/relationships/officeDocument" Target="/ppt/presentation.xml" Id="R6e8743b6bc4f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8402e76204477"/>
  </p:sldMasterIdLst>
  <p:notesMasterIdLst>
    <p:notesMasterId xmlns:r="http://schemas.openxmlformats.org/officeDocument/2006/relationships" r:id="R85139ab281154d1f"/>
  </p:notesMasterIdLst>
  <p:sldIdLst>
    <p:sldId xmlns:r="http://schemas.openxmlformats.org/officeDocument/2006/relationships" id="256" r:id="R28fc898b94ca43fb"/>
    <p:sldId xmlns:r="http://schemas.openxmlformats.org/officeDocument/2006/relationships" id="257" r:id="R0ea449c8fb0546f4"/>
    <p:sldId xmlns:r="http://schemas.openxmlformats.org/officeDocument/2006/relationships" id="258" r:id="Re5a9b4644cc04266"/>
    <p:sldId xmlns:r="http://schemas.openxmlformats.org/officeDocument/2006/relationships" id="259" r:id="Rc067f8bbd14343ef"/>
    <p:sldId xmlns:r="http://schemas.openxmlformats.org/officeDocument/2006/relationships" id="260" r:id="Rb6c3c967455248c9"/>
    <p:sldId xmlns:r="http://schemas.openxmlformats.org/officeDocument/2006/relationships" id="261" r:id="Ra0492fa01a6a45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202ef9e37408d" /><Relationship Type="http://schemas.openxmlformats.org/officeDocument/2006/relationships/slideMaster" Target="/ppt/slideMasters/slideMaster1.xml" Id="R23c8402e76204477" /><Relationship Type="http://schemas.openxmlformats.org/officeDocument/2006/relationships/notesMaster" Target="/ppt/notesMasters/notesMaster1.xml" Id="R85139ab281154d1f" /><Relationship Type="http://schemas.openxmlformats.org/officeDocument/2006/relationships/presProps" Target="/ppt/presProps.xml" Id="R8a2f234081dd4a20" /><Relationship Type="http://schemas.openxmlformats.org/officeDocument/2006/relationships/tableStyles" Target="/ppt/tableStyles.xml" Id="Rc4ee167f9aeb4d15" /><Relationship Type="http://schemas.openxmlformats.org/officeDocument/2006/relationships/slide" Target="/ppt/slides/slide1.xml" Id="R28fc898b94ca43fb" /><Relationship Type="http://schemas.openxmlformats.org/officeDocument/2006/relationships/slide" Target="/ppt/slides/slide2.xml" Id="R0ea449c8fb0546f4" /><Relationship Type="http://schemas.openxmlformats.org/officeDocument/2006/relationships/slide" Target="/ppt/slides/slide3.xml" Id="Re5a9b4644cc04266" /><Relationship Type="http://schemas.openxmlformats.org/officeDocument/2006/relationships/slide" Target="/ppt/slides/slide4.xml" Id="Rc067f8bbd14343ef" /><Relationship Type="http://schemas.openxmlformats.org/officeDocument/2006/relationships/slide" Target="/ppt/slides/slide5.xml" Id="Rb6c3c967455248c9" /><Relationship Type="http://schemas.openxmlformats.org/officeDocument/2006/relationships/slide" Target="/ppt/slides/slide6.xml" Id="Ra0492fa01a6a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557417fba7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743c737e045e8" /><Relationship Type="http://schemas.openxmlformats.org/officeDocument/2006/relationships/notesMaster" Target="/ppt/notesMasters/notesMaster1.xml" Id="R3e10823f89d343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a365aa846c4e7d" /><Relationship Type="http://schemas.openxmlformats.org/officeDocument/2006/relationships/notesMaster" Target="/ppt/notesMasters/notesMaster1.xml" Id="Rf122bcffc489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96324839174c5f" /><Relationship Type="http://schemas.openxmlformats.org/officeDocument/2006/relationships/notesMaster" Target="/ppt/notesMasters/notesMaster1.xml" Id="Rd4f0738377f8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82cb6fa7eb4493" /><Relationship Type="http://schemas.openxmlformats.org/officeDocument/2006/relationships/notesMaster" Target="/ppt/notesMasters/notesMaster1.xml" Id="R455de31a66864b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c0e640672c48b1" /><Relationship Type="http://schemas.openxmlformats.org/officeDocument/2006/relationships/notesMaster" Target="/ppt/notesMasters/notesMaster1.xml" Id="Rd41e5891b493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4c83184fed4dea" /><Relationship Type="http://schemas.openxmlformats.org/officeDocument/2006/relationships/notesMaster" Target="/ppt/notesMasters/notesMaster1.xml" Id="R33136f402e7f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4c2868355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88e9fbaaf41db" /><Relationship Type="http://schemas.openxmlformats.org/officeDocument/2006/relationships/slideLayout" Target="/ppt/slideLayouts/slideLayout1.xml" Id="R390587152f2a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587152f2a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adea4637549ee" /><Relationship Type="http://schemas.openxmlformats.org/officeDocument/2006/relationships/notesSlide" Target="/ppt/notesSlides/notesSlide1.xml" Id="Ra2e1f80276d9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d5f1c53364c6e" /><Relationship Type="http://schemas.openxmlformats.org/officeDocument/2006/relationships/notesSlide" Target="/ppt/notesSlides/notesSlide2.xml" Id="Ra64b730b5840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32537a0f1469e" /><Relationship Type="http://schemas.openxmlformats.org/officeDocument/2006/relationships/notesSlide" Target="/ppt/notesSlides/notesSlide3.xml" Id="Re9fb0890442f41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4769042474cf6" /><Relationship Type="http://schemas.openxmlformats.org/officeDocument/2006/relationships/notesSlide" Target="/ppt/notesSlides/notesSlide4.xml" Id="R7f7f1103242a41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3510c71a4040" /><Relationship Type="http://schemas.openxmlformats.org/officeDocument/2006/relationships/notesSlide" Target="/ppt/notesSlides/notesSlide5.xml" Id="Red3d97c159ae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4c0f16825405c" /><Relationship Type="http://schemas.openxmlformats.org/officeDocument/2006/relationships/notesSlide" Target="/ppt/notesSlides/notesSlide6.xml" Id="R10752662d4f7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EF6F3-D168-4630-8D2F-82C7B877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1639B-54D8-4D47-8464-ABCF717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143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1CFFB-727E-49A7-8017-79F08447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182A"/>
                </a:solidFill>
              </a:defRPr>
            </a:pPr>
            <a:r>
              <a:rPr sz="1200" b="1">
                <a:solidFill>
                  <a:srgbClr val="E4182A"/>
                </a:solidFill>
              </a:rPr>
              <a:t>知外文化 · 小红书SAE岗位申请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5BCB0-0593-4BF0-87BE-13FD3D97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9540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1A1A"/>
                </a:solidFill>
              </a:defRPr>
            </a:pPr>
            <a:r>
              <a:rPr sz="3900" b="1">
                <a:solidFill>
                  <a:srgbClr val="1A1A1A"/>
                </a:solidFill>
              </a:rPr>
              <a:t>美妆赛道小红书媒介执行分析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BD76B-B2DD-4262-A52B-E9D80DA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</a:defRPr>
            </a:pPr>
            <a:r>
              <a:rPr sz="1650">
                <a:solidFill>
                  <a:srgbClr val="666666"/>
                </a:solidFill>
              </a:rPr>
              <a:t>达人矩阵策略 · 内容方向拆解 · 投放节奏规划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9C6E-5901-44C0-A639-9C3D038E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BBFDC-351F-46F0-8E01-50AA432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A1A"/>
                </a:solidFill>
              </a:defRPr>
            </a:pPr>
            <a:r>
              <a:rPr sz="1350" b="1">
                <a:solidFill>
                  <a:srgbClr val="1A1A1A"/>
                </a:solidFill>
              </a:rPr>
              <a:t>分析师：江采璇（Jessica）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16C7F-A1EA-4CBC-B8AD-D1A94635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767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9年互联网广告及媒介执行经验 | 深耕腾讯、字节、百度等平台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AA440-AC03-40A6-B645-A7877DF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小红书深度用户 | 熟悉平台生态与内容调性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A239B-1292-4CAA-B850-BBD1374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36195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8E8BE-0234-4AF8-A71A-FBFA719D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小红书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79A6B-96CD-4B04-96DB-7FDBAAC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816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2025年7月</a:t>
            </a:r>
          </a:p>
        </p:txBody>
      </p:sp>
    </p:spTree>
    <p:extLst>
      <p:ext uri="{BB962C8B-B14F-4D97-AF65-F5344CB8AC3E}">
        <p14:creationId xmlns:p14="http://schemas.microsoft.com/office/powerpoint/2010/main" val="1657220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B91D20-0474-406A-958A-6D3C943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323EB-B36C-49A5-B9F1-60A93376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  平台洞察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3BA2B-A89E-4C8E-A548-DE4470E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</a:rPr>
              <a:t>美妆用户在小红书的行为特征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E84E1-BC0A-4EA5-8128-D976F83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19200"/>
            <a:ext cx="64579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247FE-D29A-47AF-8D50-1883ED7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3144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4182A"/>
                </a:solidFill>
              </a:defRPr>
            </a:pPr>
            <a:r>
              <a:rPr sz="4200" b="1">
                <a:solidFill>
                  <a:srgbClr val="E4182A"/>
                </a:solidFill>
              </a:rPr>
              <a:t>73%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8404A-A13C-456E-B388-54E07B1B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美妆消费者在决策前会先在小红书搜索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E53A1-ECAD-4A0F-88DB-EC4CEE4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99999"/>
                </a:solidFill>
              </a:defRPr>
            </a:pPr>
            <a:r>
              <a:rPr sz="1050">
                <a:solidFill>
                  <a:srgbClr val="999999"/>
                </a:solidFill>
              </a:rPr>
              <a:t>（来源：小红书美妆行业白皮书）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ED340-7273-46D5-8BD2-0565AC4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095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A5D76-B3A6-4D1D-9D2C-D20B905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CF96C-731E-48BC-A824-6DB4FE3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搜索驱动决策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CB2DB-C206-42CC-84FA-3CE9DB1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美妆用户平均搜索3.2次后才完成购买，关键词布局是投放的第一步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8F4E0-46E3-4899-943D-5A8CD03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095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F1740-4738-4AB2-B216-FEDF22E9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5C01F-DF06-4D54-B435-D071E995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真实体验优先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96E65-1857-4D92-89C2-C2E2006C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素人笔记的信任度高于明星代言，真实感是内容核心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C126B-0815-4F4E-8164-7834452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4095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E7DA6-02C5-4D13-99BA-7A440F5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92758-ED6B-4C25-9FC9-88A715C5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圈层化明显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48EC9-A067-4AFD-AE97-2F51965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成分党、敏感肌、抗老等细分人群需求差异大，需精准定向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5A06B-5BD5-4565-8B51-745EAB9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645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美妆用户种草→转化路径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64CC5-568B-4236-8F47-CE563C9A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7620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A7D6D-1C06-462B-9459-1E5A770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9D850-0B47-47C6-AFA6-6192FEC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曝光触达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5BCB6-CE8B-42C2-9AF0-C4F6F48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信息流/搜索/话题页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CD3EF-9172-479D-B469-B5549DF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6096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A0CBF-AC59-4F20-A143-C27B6FB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36BB4-44C0-4784-96D1-F62F73F7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互动收藏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252C5-5D60-4ED4-A4F7-34CFCF88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点赞/收藏/评论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B3C22-F041-497C-81BC-51BB6A26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7685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AA4F7-7734-44F4-95BC-72B766D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53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A1EE5-76EF-41A3-8BF6-633EA8CE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搜索加深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8852A-B25E-41B4-942E-B885A528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品牌词/竞品词搜索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A1F723-C0DA-446E-9004-DDE408AC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34100"/>
            <a:ext cx="304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DBA91-5AC9-40F8-B97E-DFFC823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10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BF3D6-D130-41DB-83BC-2C95032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1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站外转化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412FCE-DD47-47B3-AB05-A53D62B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跳转电商/到店</a:t>
            </a:r>
          </a:p>
        </p:txBody>
      </p:sp>
    </p:spTree>
    <p:extLst>
      <p:ext uri="{BB962C8B-B14F-4D97-AF65-F5344CB8AC3E}">
        <p14:creationId xmlns:p14="http://schemas.microsoft.com/office/powerpoint/2010/main" val="2010562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D02B1-C9D4-4937-89E9-772AE63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F2B1E-FF32-4DD7-844A-9EFADA6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  达人矩阵策略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885F-3436-4277-A186-CF607B1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</a:rPr>
              <a:t>金字塔模型与分层打法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FA684-CC87-4B96-BE78-59D643A5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1E68C-A7DF-4EFA-8B7F-13757C34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头部达人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E8FA-9C2E-4488-807D-A8E947B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>
                    <a:alpha val="90000"/>
                  </a:srgbClr>
                </a:solidFill>
              </a:defRPr>
            </a:pPr>
            <a:r>
              <a:rPr sz="1350" b="1">
                <a:solidFill>
                  <a:srgbClr val="FFFFFF">
                    <a:alpha val="90000"/>
                  </a:srgbClr>
                </a:solidFill>
              </a:rPr>
              <a:t>5-10%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CEB0E-C285-4D18-9B2D-A378669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>
                    <a:alpha val="85000"/>
                  </a:srgbClr>
                </a:solidFill>
              </a:defRPr>
            </a:pPr>
            <a:r>
              <a:rPr sz="1125">
                <a:solidFill>
                  <a:srgbClr val="FFFFFF">
                    <a:alpha val="85000"/>
                  </a:srgbClr>
                </a:solidFill>
              </a:rPr>
              <a:t>品牌背书 + 声量爆发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4D851-0DF7-4FC0-9E29-BC555A34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38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20-30%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D4E43-C603-4E98-B6FE-6837F9B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19475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A7A65-26AB-46AA-9179-C347D2E5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337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腰部达人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3946D-0A38-46EF-9B6C-79EF186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337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>
                    <a:alpha val="90000"/>
                  </a:srgbClr>
                </a:solidFill>
              </a:defRPr>
            </a:pPr>
            <a:r>
              <a:rPr sz="1350" b="1">
                <a:solidFill>
                  <a:srgbClr val="FFFFFF">
                    <a:alpha val="90000"/>
                  </a:srgbClr>
                </a:solidFill>
              </a:rPr>
              <a:t>20-30%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CCB19-31D9-4DDA-A471-D02AB7F0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147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>
                    <a:alpha val="85000"/>
                  </a:srgbClr>
                </a:solidFill>
              </a:defRPr>
            </a:pPr>
            <a:r>
              <a:rPr sz="1125">
                <a:solidFill>
                  <a:srgbClr val="FFFFFF">
                    <a:alpha val="85000"/>
                  </a:srgbClr>
                </a:solidFill>
              </a:rPr>
              <a:t>专业种草 + 信任建立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FF5F8-F6D5-44FB-87F0-4FFA830F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147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40-50%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46E08-DD34-4B4B-9B9F-B976429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1EC4E-943A-403D-B64A-D69D166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101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KOC/素人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611F0-96D0-4750-B182-0F8D6113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01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>
                    <a:alpha val="90000"/>
                  </a:srgbClr>
                </a:solidFill>
              </a:defRPr>
            </a:pPr>
            <a:r>
              <a:rPr sz="1350" b="1">
                <a:solidFill>
                  <a:srgbClr val="FFFFFF">
                    <a:alpha val="90000"/>
                  </a:srgbClr>
                </a:solidFill>
              </a:rPr>
              <a:t>60-75%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09A65-6B0E-49F5-88C3-9BA7F894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91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>
                    <a:alpha val="85000"/>
                  </a:srgbClr>
                </a:solidFill>
              </a:defRPr>
            </a:pPr>
            <a:r>
              <a:rPr sz="1125">
                <a:solidFill>
                  <a:srgbClr val="FFFFFF">
                    <a:alpha val="85000"/>
                  </a:srgbClr>
                </a:solidFill>
              </a:rPr>
              <a:t>铺量造势 + SEO覆盖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C5DF5-6921-4B9D-A061-99E72F2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>
                    <a:alpha val="80000"/>
                  </a:srgbClr>
                </a:solidFill>
              </a:defRPr>
            </a:pPr>
            <a:r>
              <a:rPr sz="1050">
                <a:solidFill>
                  <a:srgbClr val="FFFFFF">
                    <a:alpha val="80000"/>
                  </a:srgbClr>
                </a:solidFill>
              </a:rPr>
              <a:t>20-30%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311E6-5992-4937-BF4D-081E888F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62100"/>
            <a:ext cx="626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37672-0258-4290-9DC8-C6E8E695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筛选标准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82B73-5C38-4F5A-8BE7-EC896E4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粉丝量级 × 互动率 × 粉丝画像匹配度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900D4-A834-422D-B41F-73783E8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近30天内容垂直度 &gt;= 80%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BF823-D778-4DE1-830D-3B5A30E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过往品牌合作口碑评估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26361-9E09-4F76-BE0E-6EDF1CF0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626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9604B-4A2A-4998-8888-4741EA7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报价管理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0A620-0686-4D32-A7D3-81D8FA90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建立分级报价体系，设定上限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A87CF-C299-4B60-9A1B-C4952C3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批量采购享受折扣（10篇+）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14025-65B7-48FA-B75E-7E14BAC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以置换+费用组合降低成本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070C8-742A-46F2-B984-09837595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626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D36A7-1363-4D6F-8511-604B267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1A"/>
                </a:solidFill>
              </a:defRPr>
            </a:pPr>
            <a:r>
              <a:rPr sz="1500" b="1">
                <a:solidFill>
                  <a:srgbClr val="1A1A1A"/>
                </a:solidFill>
              </a:rPr>
              <a:t>内容把控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03B2B-62AB-4B80-9E13-82920B9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brief给方向不给限制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C5A7B-869C-4F50-9D0F-81FB38A7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1975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保留达人原创表达空间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1EA16F-C361-4D48-8FDB-24345CF2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05500"/>
            <a:ext cx="588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</a:defRPr>
            </a:pPr>
            <a:r>
              <a:rPr sz="1125">
                <a:solidFill>
                  <a:srgbClr val="666666"/>
                </a:solidFill>
              </a:rPr>
              <a:t>• 设置3个必提卖点即可</a:t>
            </a:r>
          </a:p>
        </p:txBody>
      </p:sp>
    </p:spTree>
    <p:extLst>
      <p:ext uri="{BB962C8B-B14F-4D97-AF65-F5344CB8AC3E}">
        <p14:creationId xmlns:p14="http://schemas.microsoft.com/office/powerpoint/2010/main" val="167615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37494-A053-47C7-8DB4-0CAD4A00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68C8E-6E49-4880-91D2-1A0DF7FC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  内容方向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CCC5D-9EBA-45D2-9A51-853467D0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</a:rPr>
              <a:t>爆款笔记的结构拆解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26916-22DE-4A4D-88C2-E2B5425F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267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EB1F5-D482-420D-8535-2E3E4BC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2674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8666E-208F-4F00-B848-C75F263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</a:defRPr>
            </a:pPr>
            <a:r>
              <a:rPr sz="1800" b="1">
                <a:solidFill>
                  <a:srgbClr val="1A1A1A"/>
                </a:solidFill>
              </a:rPr>
              <a:t>测评类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759AC-828A-43EC-B79A-9AC6017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9DC9C-E4F8-496F-A84C-80D073F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信任型内容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7EFF-6D62-4866-92C4-192A2F1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569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横向对比3-5款同类产品，突出自家优势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2FFCB-CF04-4C98-9AB2-F32D336D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569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999999"/>
                </a:solidFill>
              </a:defRPr>
            </a:pPr>
            <a:r>
              <a:rPr sz="1050" i="1">
                <a:solidFill>
                  <a:srgbClr val="999999"/>
                </a:solidFill>
              </a:rPr>
              <a:t>示例："空瓶记"式真实使用记录，前后对比图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2C84-B0E7-41AE-97F3-F441888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9D934-97E8-4B7C-975D-91F6A747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182A"/>
                </a:solidFill>
              </a:defRPr>
            </a:pPr>
            <a:r>
              <a:rPr sz="1200" b="1">
                <a:solidFill>
                  <a:srgbClr val="E4182A"/>
                </a:solidFill>
              </a:rPr>
              <a:t>占比25%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92109-361F-4830-A0BE-4144409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6267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915C7-3DBC-40DA-A6D4-4F2FBF92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62674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79AE1-8C70-493E-B18F-9EBF1BF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</a:defRPr>
            </a:pPr>
            <a:r>
              <a:rPr sz="1800" b="1">
                <a:solidFill>
                  <a:srgbClr val="1A1A1A"/>
                </a:solidFill>
              </a:rPr>
              <a:t>教程类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738D1-A432-44A4-AF92-B806A6A0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0002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BA9D6-31CC-4FC1-AE26-C68032B7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019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实用型内容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0ECD1-5607-4A3F-91A5-6DFF845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569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场景化教学（如早C晚A搭配指南）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6F96D-3C88-4644-B566-94F69F4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569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999999"/>
                </a:solidFill>
              </a:defRPr>
            </a:pPr>
            <a:r>
              <a:rPr sz="1050" i="1">
                <a:solidFill>
                  <a:srgbClr val="999999"/>
                </a:solidFill>
              </a:rPr>
              <a:t>示例：步骤清晰、可复制，收藏率高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4B7E4-B662-4BD7-A6CD-8D6E7DF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159B7-5FC7-42B6-AE20-4DAE918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1220"/>
                </a:solidFill>
              </a:defRPr>
            </a:pPr>
            <a:r>
              <a:rPr sz="1200" b="1">
                <a:solidFill>
                  <a:srgbClr val="C41220"/>
                </a:solidFill>
              </a:rPr>
              <a:t>占比30%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41526-A5E9-4B77-BF9E-1A8A991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267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866F9-D5C9-4C78-BBB0-BE402D5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2674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69264-0EC7-4ED0-8FA2-243C383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</a:defRPr>
            </a:pPr>
            <a:r>
              <a:rPr sz="1800" b="1">
                <a:solidFill>
                  <a:srgbClr val="1A1A1A"/>
                </a:solidFill>
              </a:rPr>
              <a:t>故事类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1D34D-CB02-4D8A-90DA-F740FEE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1CF47-01EB-4655-B871-6ED270A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情感型内容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98584-9BCF-4A55-B3AA-F2AAA321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569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个人经历+产品融入（如敏感肌自救）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C76D0-E931-4CB9-A6C0-E46C16A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569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999999"/>
                </a:solidFill>
              </a:defRPr>
            </a:pPr>
            <a:r>
              <a:rPr sz="1050" i="1">
                <a:solidFill>
                  <a:srgbClr val="999999"/>
                </a:solidFill>
              </a:rPr>
              <a:t>示例：引发共鸣，评论区互动率高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39B66-D2D0-458E-A397-2F39961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9BD95-4ADC-4988-91D7-9FF9FEA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44050"/>
                </a:solidFill>
              </a:defRPr>
            </a:pPr>
            <a:r>
              <a:rPr sz="1200" b="1">
                <a:solidFill>
                  <a:srgbClr val="D44050"/>
                </a:solidFill>
              </a:rPr>
              <a:t>占比20%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DA90B-4BF9-4AE5-8253-FE47D7D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62674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00B155-DBF4-4D82-B401-8A009746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43350"/>
            <a:ext cx="62674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F2436B-73D6-407C-B6BF-83B6EF54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719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</a:defRPr>
            </a:pPr>
            <a:r>
              <a:rPr sz="1800" b="1">
                <a:solidFill>
                  <a:srgbClr val="1A1A1A"/>
                </a:solidFill>
              </a:rPr>
              <a:t>干货类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940C9-EE17-4B99-BDA2-4CB1667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1910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EB999-7D11-439B-94E7-1BE1538E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210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知识型内容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CB345E-710C-467F-8CF9-8118735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569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成分科普、选购指南、避坑攻略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BB94CB-A36A-4B78-BE34-0041E6D4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569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999999"/>
                </a:solidFill>
              </a:defRPr>
            </a:pPr>
            <a:r>
              <a:rPr sz="1050" i="1">
                <a:solidFill>
                  <a:srgbClr val="999999"/>
                </a:solidFill>
              </a:rPr>
              <a:t>示例：长尾流量好，搜索排名持续生效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57FAA0-5557-4DF8-AF86-09555B9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3DA4C1-32FE-4C44-A2FF-9BAAF7C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102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占比25%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C8871-A489-40F1-925A-443683F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93339-4140-4550-991B-E164645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关键结论：标题决定点击率，封面决定停留，正文决定转化 — 三者缺一不可</a:t>
            </a:r>
          </a:p>
        </p:txBody>
      </p:sp>
    </p:spTree>
    <p:extLst>
      <p:ext uri="{BB962C8B-B14F-4D97-AF65-F5344CB8AC3E}">
        <p14:creationId xmlns:p14="http://schemas.microsoft.com/office/powerpoint/2010/main" val="1419186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DA4A8-2905-42DE-9E12-D3FD6D1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D92B-C4B6-4A96-BF60-F0AD5E8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  投放节奏与预算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06A9A-D08E-40B1-8586-1D1773A4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</a:rPr>
              <a:t>4周SOP框架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BC906-B673-4F79-9BC0-82420754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005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597C-7A6E-42A1-B78D-1737092D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37554-8C2C-4BFD-B1C4-BBFB67F0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第1周 · 蓄水期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0888E-33F7-4121-98A4-328B925D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7BAD0-2C0F-4CDA-BCBE-8EBACA5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E4E8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F4CD3-8227-4B5C-A581-DE0B69E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达人招募与brief下发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84FB0-C66C-4C22-AF0F-F7BE038D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种子笔记铺垫（10-15篇）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7AB59-804D-4EB6-BD64-08705F4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品牌词SEO占位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5DE32-EB5C-47CF-8CB6-4F37B817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CFBDE-3785-4211-B497-0AC7864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57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第2周 · 爆发期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B8B62-349A-46B1-A59D-93FAC850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6E945-91D7-439A-BF0B-E2866AF4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899B0-70A5-4644-B15E-B21F9E4E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腰部达人集中发布（30-50篇）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4561B-96AF-4373-AE65-DE3B5F56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头部达人引爆声量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0EE09-4E00-414F-9770-C2F01BC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0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信息流投放加码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68C26-10C8-4651-A831-978D0DA7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9C8C0-F531-417C-8686-38D690C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第3周 · 扩散期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A4472-DCFC-4C6B-BECA-4F2194F3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BF528-E5D2-4EC4-9F9B-EC42D1E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E4E8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A88C2-D975-48F5-89F2-F56619E8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KOC铺量（100+篇）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8FFCC-1AE8-44E3-B808-C468128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UGC话题挑战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48D07-F582-4EFC-9BB2-0C1ADED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评论区运营引导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53F54-5ECD-4A31-9EF1-AF3DD50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27CA6-1119-4B71-99CD-95B6E2E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第4周 · 复盘期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0898F-7C32-4E85-AEA1-43FB69E2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457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59476-63D0-4AA6-A3A0-7529959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59F65-366A-4A5D-9A9D-51D6ECD7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86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数据追踪与效果归因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93A0F-B4A7-4414-8455-A6314A1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优质内容二次投放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80AA7-3975-44BB-BD39-05F63E69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101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</a:defRPr>
            </a:pPr>
            <a:r>
              <a:rPr sz="1200">
                <a:solidFill>
                  <a:srgbClr val="1A1A1A"/>
                </a:solidFill>
              </a:rPr>
              <a:t>▸ 沉淀SOP与达人库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94D4C-DE6D-42F5-8E14-700AE22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68E495-2C55-42A5-AD4D-3862E14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曝光量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0E2D8-4CF9-4B27-AD44-3C7F6BB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90000"/>
                  </a:srgbClr>
                </a:solidFill>
              </a:defRPr>
            </a:pPr>
            <a:r>
              <a:rPr sz="1200" b="1">
                <a:solidFill>
                  <a:srgbClr val="FFFFFF">
                    <a:alpha val="90000"/>
                  </a:srgbClr>
                </a:solidFill>
              </a:rPr>
              <a:t>目标值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F5196-AE4D-48CF-87EF-BAECEAD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4198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A06296-C449-4717-B5C2-BE30E25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互动率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E80270-DEA8-4EC1-A27E-2AB8DD13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90000"/>
                  </a:srgbClr>
                </a:solidFill>
              </a:defRPr>
            </a:pPr>
            <a:r>
              <a:rPr sz="1200" b="1">
                <a:solidFill>
                  <a:srgbClr val="FFFFFF">
                    <a:alpha val="90000"/>
                  </a:srgbClr>
                </a:solidFill>
              </a:rPr>
              <a:t>&gt;= 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70DB8B-56DA-4AC8-9B22-5A3FA16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4198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4F29EA-6561-4F38-B199-010B515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搜索排名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963D13-DEB1-48B2-9AF4-61CF7587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90000"/>
                  </a:srgbClr>
                </a:solidFill>
              </a:defRPr>
            </a:pPr>
            <a:r>
              <a:rPr sz="1200" b="1">
                <a:solidFill>
                  <a:srgbClr val="FFFFFF">
                    <a:alpha val="90000"/>
                  </a:srgbClr>
                </a:solidFill>
              </a:rPr>
              <a:t>品牌词TOP3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78EC76-D8FE-40F4-8809-66FA1FC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198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9038FE-3D01-46BF-ACA1-711DA31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319485-9182-4A80-B23D-EA4CB7F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90000"/>
                  </a:srgbClr>
                </a:solidFill>
              </a:defRPr>
            </a:pPr>
            <a:r>
              <a:rPr sz="1200" b="1">
                <a:solidFill>
                  <a:srgbClr val="FFFFFF">
                    <a:alpha val="90000"/>
                  </a:srgbClr>
                </a:solidFill>
              </a:rPr>
              <a:t>&gt;= 1.5</a:t>
            </a:r>
          </a:p>
        </p:txBody>
      </p:sp>
    </p:spTree>
    <p:extLst>
      <p:ext uri="{BB962C8B-B14F-4D97-AF65-F5344CB8AC3E}">
        <p14:creationId xmlns:p14="http://schemas.microsoft.com/office/powerpoint/2010/main" val="1480178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B2806-90FA-4918-91F0-CC70719E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F931D-C311-4715-A3B4-9EC11D6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05  能力匹配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9C039-CEDA-482D-9EB5-B10ACEEA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</a:rPr>
              <a:t>为什么我能胜任这个岗位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BDAD4-DF55-4299-BDDB-8A0E9884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26BA6-C7D6-4C3E-B2CF-6F6154B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1A1A"/>
                </a:solidFill>
              </a:defRPr>
            </a:pPr>
            <a:r>
              <a:rPr sz="1275" b="1">
                <a:solidFill>
                  <a:srgbClr val="1A1A1A"/>
                </a:solidFill>
              </a:rPr>
              <a:t>✓ 30+品牌客户对接执行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5D7FC-5273-45FD-908D-77ECE4F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4182A"/>
                </a:solidFill>
              </a:defRPr>
            </a:pPr>
            <a:r>
              <a:rPr sz="2100" b="1">
                <a:solidFill>
                  <a:srgbClr val="E4182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2FC24-3232-4387-AF78-511D699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626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382C8-C881-4835-907F-56D4C42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达人招募与需求沟通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718CF-71D4-471F-883A-804680C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AF82A-1875-40CC-BC23-7F5F9DC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1A1A"/>
                </a:solidFill>
              </a:defRPr>
            </a:pPr>
            <a:r>
              <a:rPr sz="1275" b="1">
                <a:solidFill>
                  <a:srgbClr val="1A1A1A"/>
                </a:solidFill>
              </a:rPr>
              <a:t>✓ 2000万+广告流水管理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8A0CA-C42F-41FE-A15F-D690D9C6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41220"/>
                </a:solidFill>
              </a:defRPr>
            </a:pPr>
            <a:r>
              <a:rPr sz="2100" b="1">
                <a:solidFill>
                  <a:srgbClr val="C4122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0F4F1-882B-4F66-9D35-1B72718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626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C41220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31A9A-D02E-47D8-8931-828B2BC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预算分配与报价管控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1628A-593F-466D-A546-DFB49B64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9DC4F-5FE1-4194-964E-945FBF14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1A1A"/>
                </a:solidFill>
              </a:defRPr>
            </a:pPr>
            <a:r>
              <a:rPr sz="1275" b="1">
                <a:solidFill>
                  <a:srgbClr val="1A1A1A"/>
                </a:solidFill>
              </a:rPr>
              <a:t>✓ SOP流程搭建（抖音/百度）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C0A35-D3CF-49F2-9025-469B9644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44050"/>
                </a:solidFill>
              </a:defRPr>
            </a:pPr>
            <a:r>
              <a:rPr sz="2100" b="1">
                <a:solidFill>
                  <a:srgbClr val="D4405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F5911-7474-4D74-BF43-C8CE05ED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626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44050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CE705-8470-4932-B33A-C1E6E0F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814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小红书媒介执行SOP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A7876-86A5-4143-860C-54CC90BB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C6C67-2756-4068-ADD1-51EB576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1A1A"/>
                </a:solidFill>
              </a:defRPr>
            </a:pPr>
            <a:r>
              <a:rPr sz="1275" b="1">
                <a:solidFill>
                  <a:srgbClr val="1A1A1A"/>
                </a:solidFill>
              </a:rPr>
              <a:t>✓ 数据归因分析 &amp; ROI优化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AC923-067D-4E16-A2F0-D75A20C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9AB53-F62A-4A69-A646-54BF504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86300"/>
            <a:ext cx="626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BE425-5DA9-41C0-96E5-A5D1856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958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投放效果追踪与复盘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EA37C-C0DC-4C70-BF9C-BD70932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714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C3D2A-A7E5-4466-B0ED-6E86D53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1A1A"/>
                </a:solidFill>
              </a:defRPr>
            </a:pPr>
            <a:r>
              <a:rPr sz="1275" b="1">
                <a:solidFill>
                  <a:srgbClr val="1A1A1A"/>
                </a:solidFill>
              </a:rPr>
              <a:t>✓ 跨部门协同（设计/媒介/财务）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2A541-63DD-4372-8B7A-09821F3E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912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4182A"/>
                </a:solidFill>
              </a:defRPr>
            </a:pPr>
            <a:r>
              <a:rPr sz="2100" b="1">
                <a:solidFill>
                  <a:srgbClr val="E4182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A341D-8E0D-4196-BBDA-FD4C6B1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00700"/>
            <a:ext cx="626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182A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AE35C-282F-4E40-BD6B-7A5B9190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102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内容审核与出品把控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A8E8F-65E0-4025-A6C5-EC10A401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9448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5692E-6C61-43CA-861F-17CBEAA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24650"/>
            <a:ext cx="899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i="1">
                <a:solidFill>
                  <a:srgbClr val="666666"/>
                </a:solidFill>
              </a:defRPr>
            </a:pPr>
            <a:r>
              <a:rPr sz="1350" i="1">
                <a:solidFill>
                  <a:srgbClr val="666666"/>
                </a:solidFill>
              </a:rPr>
              <a:t>“我不是只做执行的人，而是能从品牌视角理解平台逻辑、推动营销闭环的项目经理。”</a:t>
            </a:r>
          </a:p>
        </p:txBody>
      </p:sp>
    </p:spTree>
    <p:extLst>
      <p:ext uri="{BB962C8B-B14F-4D97-AF65-F5344CB8AC3E}">
        <p14:creationId xmlns:p14="http://schemas.microsoft.com/office/powerpoint/2010/main" val="1555707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2026-07-07T09:39:20.0170000Z</dcterms:created>
  <dcterms:modified xsi:type="dcterms:W3CDTF">2026-07-07T09:39:20.0170000Z</dcterms:modified>
</coreProperties>
</file>