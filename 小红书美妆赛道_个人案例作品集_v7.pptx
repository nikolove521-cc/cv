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4D8A"/>
                </a:solidFill>
                <a:latin typeface="Arial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Microsoft YaHei"/>
              </a:rPr>
              <a:t>小红书</a:t>
            </a:r>
            <a:r>
              <a:rPr sz="4800">
                <a:solidFill>
                  <a:srgbClr val="606070"/>
                </a:solidFill>
                <a:latin typeface="Microsoft YaHei"/>
              </a:rPr>
              <a:t> · </a:t>
            </a:r>
            <a:r>
              <a:rPr sz="4800" b="1">
                <a:solidFill>
                  <a:srgbClr val="FF4D8A"/>
                </a:solidFill>
                <a:latin typeface="Microsoft YaHei"/>
              </a:rPr>
              <a:t>美妆赛道</a:t>
            </a:r>
            <a:r>
              <a:rPr sz="4800" b="1">
                <a:solidFill>
                  <a:srgbClr val="FFFFFF"/>
                </a:solidFill>
                <a:latin typeface="Microsoft YaHei"/>
              </a:rPr>
              <a:t> 媒介策略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个人案例作品集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20440"/>
            <a:ext cx="1828800" cy="27432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114800"/>
          </a:xfrm>
          <a:prstGeom prst="roundRect">
            <a:avLst/>
          </a:prstGeom>
          <a:solidFill>
            <a:srgbClr val="30303A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D8A"/>
                </a:solidFill>
                <a:latin typeface="Microsoft YaHei"/>
              </a:defRPr>
            </a:pPr>
            <a:r>
              <a:t>9+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年互联网广告及媒介经验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4A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品牌客户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380FF"/>
                </a:solidFill>
                <a:latin typeface="Microsoft YaHei"/>
              </a:defRPr>
            </a:pPr>
            <a:r>
              <a:t>2000万+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广告流水管理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A8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达人资源储备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平台洞察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91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美妆用户在小红书的搜索行为与决策路径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57400"/>
            <a:ext cx="8686800" cy="7315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达人矩阵策略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23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788920"/>
            <a:ext cx="8686800" cy="7315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内容方向拆解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54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爆款笔记的四类结构与传播逻辑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520440"/>
            <a:ext cx="8686800" cy="7315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投放节奏与SOP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4周Campaign框架与预算分配模型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251960"/>
            <a:ext cx="8686800" cy="7315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数据复盘与优化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核心指标追踪与ROI归因方法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983480"/>
            <a:ext cx="8686800" cy="7315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方法论沉淀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49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从执行经验到策略能力的迁移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平台洞察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美妆用户在小红书的搜索行为与决策路径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2004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4D8A"/>
                </a:solidFill>
                <a:latin typeface="Microsoft YaHei"/>
              </a:defRPr>
            </a:pPr>
            <a:r>
              <a:t>3.2次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平均搜索次数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美妆用户平均搜索3.2次后才完成购买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4D8A"/>
                </a:solidFill>
                <a:latin typeface="Microsoft YaHei"/>
              </a:defRPr>
            </a:pPr>
            <a:r>
              <a:t>▸ 信息流触达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互动收藏 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455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搜索加深 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4670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站外转化 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371600"/>
            <a:ext cx="32004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4A"/>
                </a:solidFill>
                <a:latin typeface="Microsoft YaHei"/>
              </a:defRPr>
            </a:pPr>
            <a:r>
              <a:t>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搜索驱动决策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用户更看重真实体验分享而非明星代言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743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B4A"/>
                </a:solidFill>
                <a:latin typeface="Microsoft YaHei"/>
              </a:defRPr>
            </a:pPr>
            <a:r>
              <a:t>▸ 素人笔记信任度 &gt; 明星代言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9443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KOC内容转化率更高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455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真实评测影响购买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371600"/>
            <a:ext cx="3200400" cy="20116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380FF"/>
                </a:solidFill>
                <a:latin typeface="Microsoft YaHei"/>
              </a:defRPr>
            </a:pPr>
            <a:r>
              <a:t>多层圈层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精准定向分化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成分党、敏感肌、抗老需求需分层投放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7432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380FF"/>
                </a:solidFill>
                <a:latin typeface="Microsoft YaHei"/>
              </a:defRPr>
            </a:pPr>
            <a:r>
              <a:t>▸ 功效护肤 vs 彩妆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9443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成分党 vs 泛美妆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1455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Z世代 vs 轻熟龄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种草→转化漏斗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77640"/>
            <a:ext cx="23774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D8A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曝光触达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信息流/搜索/话题页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3977640"/>
            <a:ext cx="23774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069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4A"/>
                </a:solidFill>
                <a:latin typeface="Microsoft YaHei"/>
              </a:defRPr>
            </a:pPr>
            <a:r>
              <a:t>42%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互动收藏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4663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点赞·收藏·评论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3977640"/>
            <a:ext cx="23774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4069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380FF"/>
                </a:solidFill>
                <a:latin typeface="Microsoft YaHei"/>
              </a:defRPr>
            </a:pPr>
            <a:r>
              <a:t>18%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搜索加深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663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品牌词/竞品词搜索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0" y="3977640"/>
            <a:ext cx="23774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4069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A8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站外转化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4663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跳转电商/到店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数据来源：小红书美妆行业白皮书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达人矩阵策略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200400" cy="22860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200400" cy="45720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361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7556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D8A"/>
                </a:solidFill>
                <a:latin typeface="Microsoft YaHei"/>
              </a:defRPr>
            </a:pPr>
            <a:r>
              <a:t>50W+粉丝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7A"/>
                </a:solidFill>
                <a:latin typeface="Microsoft YaHei"/>
              </a:defRPr>
            </a:pPr>
            <a:r>
              <a:t>品牌背书 + 声量爆发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粉丝量级 × 互动率 × 画像匹配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近30天垂直度 ≥ 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340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口碑评估 + 历史数据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37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8A"/>
                </a:solidFill>
                <a:latin typeface="Microsoft YaHei"/>
              </a:defRPr>
            </a:pPr>
            <a:r>
              <a:t>占比15-20%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1371600"/>
            <a:ext cx="3200400" cy="22860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1371600"/>
            <a:ext cx="3200400" cy="457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0" y="1554480"/>
            <a:ext cx="365760" cy="36576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1572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15361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腰部达人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7556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4A"/>
                </a:solidFill>
                <a:latin typeface="Microsoft YaHei"/>
              </a:defRPr>
            </a:pPr>
            <a:r>
              <a:t>5W–50W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7A"/>
                </a:solidFill>
                <a:latin typeface="Microsoft YaHei"/>
              </a:defRPr>
            </a:pPr>
            <a:r>
              <a:t>专业种草 + 信任建立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331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分级报价体系，设上限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532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批量采购折扣（10篇+）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7340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置换+费用组合降本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337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4A"/>
                </a:solidFill>
                <a:latin typeface="Microsoft YaHei"/>
              </a:defRPr>
            </a:pPr>
            <a:r>
              <a:t>占比40-50%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371600"/>
            <a:ext cx="3200400" cy="22860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1371600"/>
            <a:ext cx="3200400" cy="45720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89520" y="1554480"/>
            <a:ext cx="365760" cy="365760"/>
          </a:xfrm>
          <a:prstGeom prst="ellipse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572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15361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KOC / 素人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17556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80FF"/>
                </a:solidFill>
                <a:latin typeface="Microsoft YaHei"/>
              </a:defRPr>
            </a:pPr>
            <a:r>
              <a:t>60-75W篇/日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7A"/>
                </a:solidFill>
                <a:latin typeface="Microsoft YaHei"/>
              </a:defRPr>
            </a:pPr>
            <a:r>
              <a:t>铺量造势 + SEO覆盖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331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Brief给方向不给限制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532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保留达人原创表达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7340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▸ 设3个必提卖点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337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0FF"/>
                </a:solidFill>
                <a:latin typeface="Microsoft YaHei"/>
              </a:defRPr>
            </a:pPr>
            <a:r>
              <a:t>占比30-40%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31920"/>
            <a:ext cx="1033272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931920"/>
            <a:ext cx="1033272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A8"/>
                </a:solidFill>
                <a:latin typeface="Microsoft YaHei"/>
              </a:defRPr>
            </a:pPr>
            <a:r>
              <a:t>💡 策略思考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金字塔模型的核心不是均匀分配预算，而是根据品牌阶段动态调整比例。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4D8A"/>
                </a:solidFill>
                <a:latin typeface="Microsoft YaHei"/>
              </a:defRPr>
            </a:pPr>
            <a:r>
              <a:t>新品牌：KOC铺量测试 → 腰部放大 → 头部造势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6B4A"/>
                </a:solidFill>
                <a:latin typeface="Microsoft YaHei"/>
              </a:defRPr>
            </a:pPr>
            <a:r>
              <a:t>成熟品牌：头部维持调性 → 腰部促转化 → KOC SEO覆盖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212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曝光覆盖率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8A"/>
                </a:solidFill>
                <a:latin typeface="Microsoft YaHei"/>
              </a:defRPr>
            </a:pPr>
            <a:r>
              <a:t>≥80%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212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互动率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4A"/>
                </a:solidFill>
                <a:latin typeface="Microsoft YaHei"/>
              </a:defRPr>
            </a:pPr>
            <a:r>
              <a:t>≥3%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212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A8"/>
                </a:solidFill>
                <a:latin typeface="Microsoft YaHei"/>
              </a:defRPr>
            </a:pPr>
            <a:r>
              <a:t>≥1.5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内容方向拆解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爆款笔记的四类结构与传播逻辑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423160" cy="2560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423160" cy="54864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08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4D8A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8A"/>
                </a:solidFill>
                <a:latin typeface="Microsoft YaHei"/>
              </a:defRPr>
            </a:pPr>
            <a:r>
              <a:t>信任型内容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2011680" cy="9144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横向对比3-5款同类产品，突出优势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示例：空瓶记式真实使用记录，前后对比图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4D8A"/>
                </a:solidFill>
                <a:latin typeface="Microsoft YaHei"/>
              </a:defRPr>
            </a:pPr>
            <a:r>
              <a:t>高信任度 · 高收藏率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1371600"/>
            <a:ext cx="2423160" cy="2560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1371600"/>
            <a:ext cx="2423160" cy="5486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教程类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508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6B4A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4A"/>
                </a:solidFill>
                <a:latin typeface="Microsoft YaHei"/>
              </a:defRPr>
            </a:pPr>
            <a:r>
              <a:t>场景化教学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194560"/>
            <a:ext cx="2011680" cy="9144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如早C晚A搭配指南，步骤清晰可复制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示例：收藏率高，实用性强，长尾流量好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4A"/>
                </a:solidFill>
                <a:latin typeface="Microsoft YaHei"/>
              </a:defRPr>
            </a:pPr>
            <a:r>
              <a:t>高实用 · 高转发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1371600"/>
            <a:ext cx="2423160" cy="2560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1371600"/>
            <a:ext cx="2423160" cy="54864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故事类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508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B380FF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0FF"/>
                </a:solidFill>
                <a:latin typeface="Microsoft YaHei"/>
              </a:defRPr>
            </a:pPr>
            <a:r>
              <a:t>情感型内容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194560"/>
            <a:ext cx="2011680" cy="9144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个人经历+产品融入，如敏感肌自救故事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示例：引发共鸣，评论区互动率高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380FF"/>
                </a:solidFill>
                <a:latin typeface="Microsoft YaHei"/>
              </a:defRPr>
            </a:pPr>
            <a:r>
              <a:t>低获客成本 · 高共鸣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371600"/>
            <a:ext cx="2423160" cy="25603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1371600"/>
            <a:ext cx="2423160" cy="54864"/>
          </a:xfrm>
          <a:prstGeom prst="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干货类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1508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4AC9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C9FF"/>
                </a:solidFill>
                <a:latin typeface="Microsoft YaHei"/>
              </a:defRPr>
            </a:pPr>
            <a:r>
              <a:t>成分科普·指南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2194560"/>
            <a:ext cx="2011680" cy="9144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成分解析、选购指南、避坑清单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示例：长尾流量好，搜索排名持续生效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C9FF"/>
                </a:solidFill>
                <a:latin typeface="Microsoft YaHei"/>
              </a:defRPr>
            </a:pPr>
            <a:r>
              <a:t>专业形象 · SEO优势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526280"/>
            <a:ext cx="1033272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526280"/>
            <a:ext cx="10332720" cy="36576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63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标题决定点击率 → 封面决定停留 → 正文决定转化 → 三者缺一不可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教程类+测评类合计占55%是核心类型；故事类互动成本最低，适合新品冷启动。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内容配比建议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5715000"/>
            <a:ext cx="1828800" cy="320040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测评 25%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5715000"/>
            <a:ext cx="2194560" cy="32004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5760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教程 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715000"/>
            <a:ext cx="1463040" cy="320040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57607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故事 20%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5715000"/>
            <a:ext cx="1828800" cy="320040"/>
          </a:xfrm>
          <a:prstGeom prst="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干货 25%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投放节奏与SOP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4周Campaign执行框架与预算分配模型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423160" cy="3200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240280" cy="45720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第1周 · 蓄水期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达人招募与brief下发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种子笔记铺垫（10-15篇）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品牌词SEO占位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2148840" cy="73152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曝光量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8A"/>
                </a:solidFill>
                <a:latin typeface="Microsoft YaHei"/>
              </a:defRPr>
            </a:pPr>
            <a:r>
              <a:t>达成目标覆盖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1371600"/>
            <a:ext cx="2423160" cy="3200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1463040"/>
            <a:ext cx="2240280" cy="45720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146304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169164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第2周 · 爆发期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腰部达人集中发布（30-50篇）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头部达人引爆声量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信息流投放加码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657600"/>
            <a:ext cx="2148840" cy="73152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749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互动率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4A"/>
                </a:solidFill>
                <a:latin typeface="Microsoft YaHei"/>
              </a:defRPr>
            </a:pPr>
            <a:r>
              <a:t>≥ 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1371600"/>
            <a:ext cx="2423160" cy="3200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60720" y="1463040"/>
            <a:ext cx="2240280" cy="45720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146304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69164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第3周 · 扩散期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KOC铺量（100+篇）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UGC话题挑战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评论区运营引导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3657600"/>
            <a:ext cx="2148840" cy="73152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3749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搜索排名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0FF"/>
                </a:solidFill>
                <a:latin typeface="Microsoft YaHei"/>
              </a:defRPr>
            </a:pPr>
            <a:r>
              <a:t>品牌词 TOP3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1371600"/>
            <a:ext cx="2423160" cy="3200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1463040"/>
            <a:ext cx="2240280" cy="45720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46304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1691640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第4周 · 复盘期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数据追踪与效果归因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优质内容二次投放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▸ 沉淀SOP与达人库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3657600"/>
            <a:ext cx="2148840" cy="731520"/>
          </a:xfrm>
          <a:prstGeom prst="round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749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70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A8"/>
                </a:solidFill>
                <a:latin typeface="Microsoft YaHei"/>
              </a:defRPr>
            </a:pPr>
            <a:r>
              <a:t>≥ 1.5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预算分配曲线</a:t>
            </a:r>
          </a:p>
        </p:txBody>
      </p:sp>
      <p:sp>
        <p:nvSpPr>
          <p:cNvPr id="48" name="Oval 47"/>
          <p:cNvSpPr/>
          <p:nvPr/>
        </p:nvSpPr>
        <p:spPr>
          <a:xfrm>
            <a:off x="3200400" y="5029200"/>
            <a:ext cx="182880" cy="182880"/>
          </a:xfrm>
          <a:prstGeom prst="ellipse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4709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D8A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50" name="Oval 49"/>
          <p:cNvSpPr/>
          <p:nvPr/>
        </p:nvSpPr>
        <p:spPr>
          <a:xfrm>
            <a:off x="5669280" y="4754880"/>
            <a:ext cx="182880" cy="18288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4434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4A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52" name="Oval 51"/>
          <p:cNvSpPr/>
          <p:nvPr/>
        </p:nvSpPr>
        <p:spPr>
          <a:xfrm>
            <a:off x="8138160" y="5120640"/>
            <a:ext cx="182880" cy="182880"/>
          </a:xfrm>
          <a:prstGeom prst="ellipse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380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54" name="Oval 53"/>
          <p:cNvSpPr/>
          <p:nvPr/>
        </p:nvSpPr>
        <p:spPr>
          <a:xfrm>
            <a:off x="10058400" y="5303520"/>
            <a:ext cx="182880" cy="182880"/>
          </a:xfrm>
          <a:prstGeom prst="ellipse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696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A8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577840"/>
            <a:ext cx="10332720" cy="6400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577840"/>
            <a:ext cx="1033272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623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D700"/>
                </a:solidFill>
                <a:latin typeface="Microsoft YaHei"/>
              </a:defRPr>
            </a:pPr>
            <a:r>
              <a:t>💡 优化建议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爆发期前预留3天预热素材 · 复盘期重点关注ROI低于1.2的渠道 · 优质内容二次投放延长长尾效应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数据复盘与优化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核心指标追踪与ROI归因方法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20040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曝光量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目标覆盖达成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信息流+搜索+话题页全链路触达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777240" cy="594360"/>
          </a:xfrm>
          <a:prstGeom prst="round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08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371600"/>
            <a:ext cx="320040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1463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互动率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≥ 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点赞·收藏·评论综合指标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777240" cy="594360"/>
          </a:xfrm>
          <a:prstGeom prst="round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371600"/>
            <a:ext cx="320040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463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搜索排名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品牌词 TOP3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品牌词自然搜索排名提升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1463040"/>
            <a:ext cx="777240" cy="594360"/>
          </a:xfrm>
          <a:prstGeom prst="round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508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TOP2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14600"/>
            <a:ext cx="320040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≥ 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投放回报比追踪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2606040"/>
            <a:ext cx="777240" cy="594360"/>
          </a:xfrm>
          <a:prstGeom prst="round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2651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1.7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2514600"/>
            <a:ext cx="320040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转化成本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降低20%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CPC/CPA持续优化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606040"/>
            <a:ext cx="777240" cy="59436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651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-20%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2514600"/>
            <a:ext cx="3200400" cy="9144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内容质量分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≥ 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笔记评分体系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2606040"/>
            <a:ext cx="777240" cy="594360"/>
          </a:xfrm>
          <a:prstGeom prst="round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265176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归因分析方法</a:t>
            </a:r>
          </a:p>
        </p:txBody>
      </p:sp>
      <p:sp>
        <p:nvSpPr>
          <p:cNvPr id="44" name="Oval 43"/>
          <p:cNvSpPr/>
          <p:nvPr/>
        </p:nvSpPr>
        <p:spPr>
          <a:xfrm>
            <a:off x="640080" y="3794760"/>
            <a:ext cx="182880" cy="182880"/>
          </a:xfrm>
          <a:prstGeom prst="ellipse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8A"/>
                </a:solidFill>
                <a:latin typeface="Microsoft YaHei"/>
              </a:defRPr>
            </a:pPr>
            <a:r>
              <a:t>多触点归因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39776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追踪用户从曝光→互动→搜索→转化的全链路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4251960"/>
            <a:ext cx="182880" cy="18288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206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4A"/>
                </a:solidFill>
                <a:latin typeface="Microsoft YaHei"/>
              </a:defRPr>
            </a:pPr>
            <a:r>
              <a:t>A/B测试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44348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对比不同达人类型、内容形式、发布时间效果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" y="4709160"/>
            <a:ext cx="182880" cy="182880"/>
          </a:xfrm>
          <a:prstGeom prst="ellipse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0FF"/>
                </a:solidFill>
                <a:latin typeface="Microsoft YaHei"/>
              </a:defRPr>
            </a:pPr>
            <a:r>
              <a:t>搜索词分析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4892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分析品牌词搜索量变化，评估种草效果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" y="5166360"/>
            <a:ext cx="182880" cy="182880"/>
          </a:xfrm>
          <a:prstGeom prst="ellipse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5120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A8"/>
                </a:solidFill>
                <a:latin typeface="Microsoft YaHei"/>
              </a:defRPr>
            </a:pPr>
            <a:r>
              <a:t>内容质量评分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349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建立笔记评分体系：封面CTR、完读率、互动率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577840"/>
            <a:ext cx="10332720" cy="7315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577840"/>
            <a:ext cx="1033272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6235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0D2A8"/>
                </a:solidFill>
                <a:latin typeface="Microsoft YaHei"/>
              </a:defRPr>
            </a:pPr>
            <a:r>
              <a:t>📊 核心结论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通过数据驱动的迭代优化，单月投放ROI从1.2提升至1.7，搜索排名进入品牌词TOP2，内容质量评分稳定在85+。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548640" cy="54864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方法论沉淀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0"/>
                </a:solidFill>
                <a:latin typeface="Microsoft YaHei"/>
              </a:defRPr>
            </a:pPr>
            <a:r>
              <a:t>从执行经验到策略能力的迁移映射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515600" cy="13716"/>
          </a:xfrm>
          <a:prstGeom prst="rect">
            <a:avLst/>
          </a:prstGeom>
          <a:solidFill>
            <a:srgbClr val="3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84048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840480" cy="36576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30+品牌客户对接执行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4D8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71600"/>
            <a:ext cx="402336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4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1371600"/>
            <a:ext cx="4023360" cy="36576"/>
          </a:xfrm>
          <a:prstGeom prst="rect">
            <a:avLst/>
          </a:prstGeom>
          <a:solidFill>
            <a:srgbClr val="FF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813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达人招募与需求沟通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384048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11680"/>
            <a:ext cx="3840480" cy="3657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2000万+广告流水管理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4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011680"/>
            <a:ext cx="402336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011680"/>
            <a:ext cx="4023360" cy="3657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214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预算分配与报价管控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384048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3840480" cy="36576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614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SOP流程搭建（抖音/百度）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380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651760"/>
            <a:ext cx="402336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3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2651760"/>
            <a:ext cx="4023360" cy="36576"/>
          </a:xfrm>
          <a:prstGeom prst="rect">
            <a:avLst/>
          </a:prstGeom>
          <a:solidFill>
            <a:srgbClr val="B3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761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小红书媒介执行SOP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40"/>
            <a:ext cx="384048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3840480" cy="36576"/>
          </a:xfrm>
          <a:prstGeom prst="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015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数据归因分析 &amp; ROI优化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C9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3291840"/>
            <a:ext cx="402336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4AC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7760" y="3291840"/>
            <a:ext cx="4023360" cy="36576"/>
          </a:xfrm>
          <a:prstGeom prst="rect">
            <a:avLst/>
          </a:prstGeom>
          <a:solidFill>
            <a:srgbClr val="4A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401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投放效果追踪与复盘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384048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384048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41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跨部门协同（设计/媒介/财务）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A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3931920"/>
            <a:ext cx="4023360" cy="502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00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37760" y="3931920"/>
            <a:ext cx="4023360" cy="36576"/>
          </a:xfrm>
          <a:prstGeom prst="rect">
            <a:avLst/>
          </a:prstGeom>
          <a:solidFill>
            <a:srgbClr val="00D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40416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内容审核与出品把控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383280"/>
            <a:ext cx="10332720" cy="914400"/>
          </a:xfrm>
          <a:prstGeom prst="roundRect">
            <a:avLst/>
          </a:prstGeom>
          <a:solidFill>
            <a:srgbClr val="16161E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383280"/>
            <a:ext cx="1033272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520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我的核心优势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8A"/>
                </a:solidFill>
                <a:latin typeface="Microsoft YaHei"/>
              </a:defRPr>
            </a:pPr>
            <a:r>
              <a:t>9年互联网广告经验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4A"/>
                </a:solidFill>
                <a:latin typeface="Microsoft YaHei"/>
              </a:defRPr>
            </a:pPr>
            <a:r>
              <a:t>腾讯/字节/百度/荣耀主流平台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380FF"/>
                </a:solidFill>
                <a:latin typeface="Microsoft YaHei"/>
              </a:defRPr>
            </a:pPr>
            <a:r>
              <a:t>小红书深度用户，持续跟踪趋势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📋 可交付成果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577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Microsoft YaHei"/>
              </a:defRPr>
            </a:pPr>
            <a:r>
              <a:t>小红书美妆赛道 · 个人案例作品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