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54864" cy="5486400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0023"/>
                </a:solidFill>
                <a:latin typeface="Microsoft YaHei"/>
              </a:defRPr>
            </a:pPr>
            <a:r>
              <a:t>知外文化 · 小红书SAE岗位申请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33333"/>
                </a:solidFill>
                <a:latin typeface="Microsoft YaHei"/>
              </a:defRPr>
            </a:pPr>
            <a:r>
              <a:t>美妆赛道小红书媒介执行分析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达人矩阵策略 · 内容方向拆解 · 投放节奏规划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4572000" cy="18288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777240"/>
            <a:ext cx="2377440" cy="594360"/>
          </a:xfrm>
          <a:prstGeom prst="roundRect">
            <a:avLst/>
          </a:prstGeom>
          <a:solidFill>
            <a:srgbClr val="FF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941832"/>
            <a:ext cx="2057400" cy="594360"/>
          </a:xfrm>
          <a:prstGeom prst="roundRect">
            <a:avLst/>
          </a:prstGeom>
          <a:solidFill>
            <a:srgbClr val="FFD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106424"/>
            <a:ext cx="1737360" cy="594360"/>
          </a:xfrm>
          <a:prstGeom prst="round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271016"/>
            <a:ext cx="1417320" cy="594360"/>
          </a:xfrm>
          <a:prstGeom prst="roundRect">
            <a:avLst/>
          </a:prstGeom>
          <a:solidFill>
            <a:srgbClr val="FFB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0" y="1435607"/>
            <a:ext cx="1097280" cy="59436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小红书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606040"/>
            <a:ext cx="109728" cy="109728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0" y="2697480"/>
            <a:ext cx="109728" cy="109728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0" y="2606040"/>
            <a:ext cx="109728" cy="109728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32720" y="2743200"/>
            <a:ext cx="109728" cy="109728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651760"/>
            <a:ext cx="5303520" cy="20116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43200"/>
            <a:ext cx="4754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分析师：江采璇（Jessica）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44444"/>
                </a:solidFill>
                <a:latin typeface="Microsoft YaHei"/>
              </a:defRPr>
            </a:pPr>
            <a:r>
              <a:t>9年互联网广告及媒介执行经验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44444"/>
                </a:solidFill>
                <a:latin typeface="Microsoft YaHei"/>
              </a:defRPr>
            </a:pPr>
            <a:r>
              <a:t>深耕腾讯、字节、百度、荣耀等主流平台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444444"/>
                </a:solidFill>
                <a:latin typeface="Microsoft YaHei"/>
              </a:defRPr>
            </a:pPr>
            <a:r>
              <a:t>小红书深度用户 · 熟悉平台生态与内容调性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E60023"/>
                </a:solidFill>
                <a:latin typeface="Microsoft YaHei"/>
              </a:defRPr>
            </a:pPr>
            <a:r>
              <a:t>期望薪资：12-15K  |  联系方式：13113658167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926080" cy="41148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  平台洞察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美妆用户在小红书的行为特征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7132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1234440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1188720" cy="32004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搜索3.2次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搜索驱动决策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美妆用户平均搜索3.2次后才完成购买，关键词布局是投放的第一步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7132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73152" cy="1234440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108960"/>
            <a:ext cx="1188720" cy="32004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信任度更高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真实体验优先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素人笔记的信任度高于明星代言，真实感是内容核心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7132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73152" cy="1234440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1188720" cy="32004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精准定向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圈层化明显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成分党、敏感肌、抗老等细分人群需求差异大，需精准定向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914400"/>
            <a:ext cx="3566160" cy="1645920"/>
          </a:xfrm>
          <a:prstGeom prst="roundRect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0058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60023"/>
                </a:solidFill>
                <a:latin typeface="Microsoft YaHei"/>
              </a:defRPr>
            </a:pPr>
            <a:r>
              <a:t>73%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美妆消费者在决策前会先在小红书搜索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  <a:latin typeface="Microsoft YaHei"/>
              </a:defRPr>
            </a:pPr>
            <a:r>
              <a:t>(来源：小红书美妆行业白皮书)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346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美妆用户种草→转化路径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291840"/>
            <a:ext cx="3108960" cy="41148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331012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曝光触达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3511296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信息流/搜索/话题页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94760"/>
            <a:ext cx="2560320" cy="411480"/>
          </a:xfrm>
          <a:prstGeom prst="roundRect">
            <a:avLst/>
          </a:prstGeom>
          <a:solidFill>
            <a:srgbClr val="CC0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81304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互动收藏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4014216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点赞·收藏·评论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297680"/>
            <a:ext cx="2011680" cy="411480"/>
          </a:xfrm>
          <a:prstGeom prst="round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31596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搜索加深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517136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品牌词/竞品词搜索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800600"/>
            <a:ext cx="1463040" cy="411480"/>
          </a:xfrm>
          <a:prstGeom prst="roundRect">
            <a:avLst/>
          </a:prstGeom>
          <a:solidFill>
            <a:srgbClr val="FF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818888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站外转化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020056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跳转电商/到店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926080" cy="41148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  达人矩阵策略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金字塔模型与分层打法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4663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66160" cy="54864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00400" cy="68580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头部达人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品牌背书 + 声量爆发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50W+粉丝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301752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26089624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筛选标准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274320" cy="27432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粉丝量级 × 互动率 × 粉丝画像匹配度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274320" cy="27432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近30天内容垂直度 ≥ 80%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72000"/>
            <a:ext cx="274320" cy="27432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过往品牌合作口碑评估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554480"/>
            <a:ext cx="3566160" cy="4663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554480"/>
            <a:ext cx="3566160" cy="54864"/>
          </a:xfrm>
          <a:prstGeom prst="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1783080"/>
            <a:ext cx="3200400" cy="685800"/>
          </a:xfrm>
          <a:prstGeom prst="round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腰部达人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专业种草 + 信任建立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5W–50W粉丝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606040"/>
            <a:ext cx="301752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743200"/>
            <a:ext cx="326089624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报价管理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200400"/>
            <a:ext cx="274320" cy="274320"/>
          </a:xfrm>
          <a:prstGeom prst="round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1546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建立分级报价体系，设定上限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886200"/>
            <a:ext cx="274320" cy="274320"/>
          </a:xfrm>
          <a:prstGeom prst="round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8404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批量采购享受折扣（10篇+）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4572000"/>
            <a:ext cx="274320" cy="274320"/>
          </a:xfrm>
          <a:prstGeom prst="round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5262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以置换+费用组合降低成本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554480"/>
            <a:ext cx="3566160" cy="4663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554480"/>
            <a:ext cx="3566160" cy="54864"/>
          </a:xfrm>
          <a:prstGeom prst="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1783080"/>
            <a:ext cx="3200400" cy="685800"/>
          </a:xfrm>
          <a:prstGeom prst="round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KOC / 素人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铺量造势 + SEO覆盖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D43B5D"/>
                </a:solidFill>
                <a:latin typeface="Microsoft YaHei"/>
              </a:defRPr>
            </a:pPr>
            <a:r>
              <a:t>60–75W粉丝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606040"/>
            <a:ext cx="3017520" cy="182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743200"/>
            <a:ext cx="326089624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内容把控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200400"/>
            <a:ext cx="274320" cy="274320"/>
          </a:xfrm>
          <a:prstGeom prst="round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1546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brief给方向不给限制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886200"/>
            <a:ext cx="274320" cy="274320"/>
          </a:xfrm>
          <a:prstGeom prst="round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8404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保留达人原创表达空间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4572000"/>
            <a:ext cx="274320" cy="274320"/>
          </a:xfrm>
          <a:prstGeom prst="round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526280"/>
            <a:ext cx="326089578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设置3个必提卖点即可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926080" cy="41148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  内容方向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爆款笔记的结构拆解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2240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03520" cy="54864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测评类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719072"/>
            <a:ext cx="1188720" cy="27432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信任型内容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44444"/>
                </a:solidFill>
                <a:latin typeface="Microsoft YaHei"/>
              </a:defRPr>
            </a:pPr>
            <a:r>
              <a:t>横向对比3-5款同类产品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突出自家优势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示例：空瓶记式真实使用记录，前后对比图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097280" cy="32004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占比25%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03520" cy="2240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303520" cy="54864"/>
          </a:xfrm>
          <a:prstGeom prst="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教程类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44444"/>
                </a:solidFill>
                <a:latin typeface="Microsoft YaHei"/>
              </a:defRPr>
            </a:pPr>
            <a:r>
              <a:t>场景化教学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如早C晚A搭配指南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示例：步骤清晰、可复制，收藏率高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246120"/>
            <a:ext cx="1097280" cy="320040"/>
          </a:xfrm>
          <a:prstGeom prst="round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占比30%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5303520" cy="2240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5303520" cy="54864"/>
          </a:xfrm>
          <a:prstGeom prst="rect">
            <a:avLst/>
          </a:prstGeom>
          <a:solidFill>
            <a:srgbClr val="CC0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故事类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187952"/>
            <a:ext cx="1188720" cy="274320"/>
          </a:xfrm>
          <a:prstGeom prst="roundRect">
            <a:avLst/>
          </a:prstGeom>
          <a:solidFill>
            <a:srgbClr val="CC0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情感型内容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44444"/>
                </a:solidFill>
                <a:latin typeface="Microsoft YaHei"/>
              </a:defRPr>
            </a:pPr>
            <a:r>
              <a:t>个人经历+产品融入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如敏感肌自救故事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示例：引发共鸣，评论区互动率高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715000"/>
            <a:ext cx="1097280" cy="320040"/>
          </a:xfrm>
          <a:prstGeom prst="roundRect">
            <a:avLst/>
          </a:prstGeom>
          <a:solidFill>
            <a:srgbClr val="CC0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占比20%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5303520" cy="2240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023360"/>
            <a:ext cx="5303520" cy="54864"/>
          </a:xfrm>
          <a:prstGeom prst="rect">
            <a:avLst/>
          </a:prstGeom>
          <a:solidFill>
            <a:srgbClr val="FF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160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干货类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44444"/>
                </a:solidFill>
                <a:latin typeface="Microsoft YaHei"/>
              </a:defRPr>
            </a:pPr>
            <a:r>
              <a:t>成分科普·选购指南·避坑攻略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29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Microsoft YaHei"/>
              </a:defRPr>
            </a:pPr>
            <a:r>
              <a:t>示例：长尾流量好，搜索排名持续生效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5715000"/>
            <a:ext cx="1097280" cy="320040"/>
          </a:xfrm>
          <a:prstGeom prst="roundRect">
            <a:avLst/>
          </a:prstGeom>
          <a:solidFill>
            <a:srgbClr val="FF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占比25%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26480"/>
            <a:ext cx="11064240" cy="41148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关键结论：标题决定点击率，封面决定停留，正文决定转化 → 三者缺一不可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926080" cy="41148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  投放节奏与预算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4周SOP框架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51760" cy="45720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第1周 · 蓄水期  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3474720"/>
          </a:xfrm>
          <a:prstGeom prst="round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达人招募与brief下发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种子笔记铺垫（10-15篇）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品牌词SEO占位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651760" cy="457200"/>
          </a:xfrm>
          <a:prstGeom prst="roundRect">
            <a:avLst/>
          </a:prstGeom>
          <a:solidFill>
            <a:srgbClr val="CC0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第2周 · 爆发期  45%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651760" cy="3474720"/>
          </a:xfrm>
          <a:prstGeom prst="round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48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腰部达人集中发布（30-50篇）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54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头部达人引爆声量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160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信息流投放加码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651760" cy="457200"/>
          </a:xfrm>
          <a:prstGeom prst="round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第3周 · 扩散期  25%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2651760" cy="3474720"/>
          </a:xfrm>
          <a:prstGeom prst="roundRect">
            <a:avLst/>
          </a:prstGeom>
          <a:solidFill>
            <a:srgbClr val="FC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KOC铺量（100+篇）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54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UGC话题挑战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60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评论区运营引导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554480"/>
            <a:ext cx="2651760" cy="457200"/>
          </a:xfrm>
          <a:prstGeom prst="roundRect">
            <a:avLst/>
          </a:prstGeom>
          <a:solidFill>
            <a:srgbClr val="FF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第4周 · 复盘期  15%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011680"/>
            <a:ext cx="2651760" cy="34747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148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数据追踪与效果归因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154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优质内容二次投放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160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t>▸ 沉淀SOP与达人库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11064240" cy="36576"/>
          </a:xfrm>
          <a:prstGeom prst="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715000"/>
            <a:ext cx="2560320" cy="640080"/>
          </a:xfrm>
          <a:prstGeom prst="roundRect">
            <a:avLst/>
          </a:prstGeom>
          <a:solidFill>
            <a:srgbClr val="FCEBEF"/>
          </a:solidFill>
          <a:ln w="12700">
            <a:solidFill>
              <a:srgbClr val="E60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曝光量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16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0023"/>
                </a:solidFill>
                <a:latin typeface="Microsoft YaHei"/>
              </a:defRPr>
            </a:pPr>
            <a:r>
              <a:t>目标值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5715000"/>
            <a:ext cx="2560320" cy="640080"/>
          </a:xfrm>
          <a:prstGeom prst="roundRect">
            <a:avLst/>
          </a:prstGeom>
          <a:solidFill>
            <a:srgbClr val="FCEBEF"/>
          </a:solidFill>
          <a:ln w="12700">
            <a:solidFill>
              <a:srgbClr val="E60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5760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互动率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6016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0023"/>
                </a:solidFill>
                <a:latin typeface="Microsoft YaHei"/>
              </a:defRPr>
            </a:pPr>
            <a:r>
              <a:t>≥ 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5715000"/>
            <a:ext cx="2560320" cy="640080"/>
          </a:xfrm>
          <a:prstGeom prst="roundRect">
            <a:avLst/>
          </a:prstGeom>
          <a:solidFill>
            <a:srgbClr val="FCEBEF"/>
          </a:solidFill>
          <a:ln w="12700">
            <a:solidFill>
              <a:srgbClr val="E60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760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搜索排名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6016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0023"/>
                </a:solidFill>
                <a:latin typeface="Microsoft YaHei"/>
              </a:defRPr>
            </a:pPr>
            <a:r>
              <a:t>品牌词TOP3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5715000"/>
            <a:ext cx="256032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0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5760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ROI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6016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0023"/>
                </a:solidFill>
                <a:latin typeface="Microsoft YaHei"/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926080" cy="41148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  能力匹配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为什么我能胜任这个岗位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029200" cy="6858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✓ 30+品牌客户对接执行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6916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6002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03520" cy="68580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达人招募与需求沟通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5029200" cy="6858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✓ 2000万+广告流水管理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651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6002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14600"/>
            <a:ext cx="5303520" cy="685800"/>
          </a:xfrm>
          <a:prstGeom prst="roundRect">
            <a:avLst/>
          </a:prstGeom>
          <a:solidFill>
            <a:srgbClr val="CC0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预算分配与报价管控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5029200" cy="6858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✓ SOP流程搭建（抖音/百度）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6118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6002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474720"/>
            <a:ext cx="5303520" cy="685800"/>
          </a:xfrm>
          <a:prstGeom prst="roundRect">
            <a:avLst/>
          </a:prstGeom>
          <a:solidFill>
            <a:srgbClr val="D4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小红书媒介执行SOP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5029200" cy="6858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✓ 数据归因分析 &amp; ROI优化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5720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6002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34840"/>
            <a:ext cx="5303520" cy="685800"/>
          </a:xfrm>
          <a:prstGeom prst="roundRect">
            <a:avLst/>
          </a:prstGeom>
          <a:solidFill>
            <a:srgbClr val="FF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投放效果追踪与复盘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60"/>
            <a:ext cx="5029200" cy="6858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✓ 跨部门协同（设计/媒介/财务）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5321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60023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5394960"/>
            <a:ext cx="5303520" cy="685800"/>
          </a:xfrm>
          <a:prstGeom prst="roundRect">
            <a:avLst/>
          </a:prstGeom>
          <a:solidFill>
            <a:srgbClr val="E60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内容审核与出品把控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666666"/>
                </a:solidFill>
                <a:latin typeface="Microsoft YaHei"/>
              </a:defRPr>
            </a:pPr>
            <a:r>
              <a:t>"我不是只做执行的人——而是能从品牌视角理解平台逻辑，推动营销闭环的项目经理。"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Microsoft YaHei"/>
              </a:defRPr>
            </a:pPr>
            <a:r>
              <a:t>知外文化 · 小红书SAE岗位申请 | 分析师：江采璇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