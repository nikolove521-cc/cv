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731520"/>
            <a:ext cx="2743200" cy="27432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1005840"/>
            <a:ext cx="2194560" cy="219456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3000" b="0">
                <a:solidFill>
                  <a:srgbClr val="8888AA"/>
                </a:solidFill>
              </a:defRPr>
            </a:pPr>
            <a:r>
              <a:t>小红书</a:t>
            </a:r>
          </a:p>
          <a:p>
            <a:pPr algn="l">
              <a:spcBef>
                <a:spcPts val="0"/>
              </a:spcBef>
              <a:defRPr sz="5200" b="1">
                <a:solidFill>
                  <a:srgbClr val="FFFFFF"/>
                </a:solidFill>
              </a:defRPr>
            </a:pPr>
            <a:r>
              <a:t>美妆赛道</a:t>
            </a:r>
          </a:p>
          <a:p>
            <a:pPr algn="l">
              <a:spcBef>
                <a:spcPts val="400"/>
              </a:spcBef>
              <a:defRPr sz="3400" b="1">
                <a:solidFill>
                  <a:srgbClr val="FF6B8A"/>
                </a:solidFill>
              </a:defRPr>
            </a:pPr>
            <a:r>
              <a:t>个人案例作品集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201168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平台洞察 · 达人策略 · 内容规划 · 投放SOP · 效果归因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8888AA"/>
                </a:solidFill>
              </a:defRPr>
            </a:pPr>
            <a:r>
              <a:t>个人案例作品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E8E8F0"/>
                </a:solidFill>
              </a:defRPr>
            </a:pPr>
            <a:r>
              <a:t>9年互联网广告及媒介执行经验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BBBBCC"/>
                </a:solidFill>
              </a:defRPr>
            </a:pPr>
            <a:r>
              <a:t>深耕互联网广告与媒介投放领域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2560320" cy="3200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554480"/>
            <a:ext cx="1828800" cy="1828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591056"/>
            <a:ext cx="1371600" cy="1371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6B8A"/>
                </a:solidFill>
              </a:defRPr>
            </a:pPr>
            <a:r>
              <a:t>9+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3317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</a:defRPr>
            </a:pPr>
            <a:r>
              <a:t>年媒介执行经验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7432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7614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30+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797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品牌客户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2004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2186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2000万+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369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广告流水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6576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36758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500+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6941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达人资源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7548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</a:defRPr>
            </a:pPr>
            <a:r>
              <a:t>Case Study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平台洞察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美妆用户在小红书的搜索行为与决策路径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188720"/>
            <a:ext cx="36576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6B8A"/>
                </a:solidFill>
              </a:defRPr>
            </a:pPr>
            <a:r>
              <a:t>3.2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次平均搜索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搜索驱动决策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美妆用户平均搜索3.2次后才完成购买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1188720"/>
            <a:ext cx="365760" cy="228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</a:defRPr>
            </a:pPr>
            <a:r>
              <a:t>73%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用户行为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真实体验优先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素人笔记信任度高于明星代言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31536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68696" y="1188720"/>
            <a:ext cx="365760" cy="228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68696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BB86FC"/>
                </a:solidFill>
              </a:defRPr>
            </a:pPr>
            <a:r>
              <a:t>多层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圈层分化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8696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精准定向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68696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成分党、敏感肌、抗老需精准投放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97480"/>
            <a:ext cx="777240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种草→转化路径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08960"/>
            <a:ext cx="7772400" cy="64008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108960"/>
            <a:ext cx="7772400" cy="6400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108960"/>
            <a:ext cx="3264408" cy="64008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4604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893040" y="3108960"/>
            <a:ext cx="544068" cy="6400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707874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429000"/>
            <a:ext cx="18288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6B8A"/>
                </a:solidFill>
              </a:defRPr>
            </a:pPr>
            <a: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曝光触达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95728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95728" y="3429000"/>
            <a:ext cx="1828800" cy="27432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87168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8CA0"/>
                </a:solidFill>
              </a:defRPr>
            </a:pPr>
            <a:r>
              <a:t>42%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7168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互动收藏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7168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34256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34256" y="3429000"/>
            <a:ext cx="182880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25696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4EC9B0"/>
                </a:solidFill>
              </a:defRPr>
            </a:pPr>
            <a:r>
              <a:t>18%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25696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搜索加深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25696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品牌词/竞品词搜索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72784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72784" y="3429000"/>
            <a:ext cx="182880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64224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BB86FC"/>
                </a:solidFill>
              </a:defRPr>
            </a:pPr>
            <a:r>
              <a:t>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4224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站外转化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64224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2976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数据来源：小红书行业公开报告及第三方研究</a:t>
            </a:r>
          </a:p>
        </p:txBody>
      </p:sp>
      <p:sp>
        <p:nvSpPr>
          <p:cNvPr id="57" name="Oval 56"/>
          <p:cNvSpPr/>
          <p:nvPr/>
        </p:nvSpPr>
        <p:spPr>
          <a:xfrm>
            <a:off x="9144000" y="3657600"/>
            <a:ext cx="2743200" cy="27432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509760" y="4023360"/>
            <a:ext cx="2011680" cy="201168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达人矩阵策略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金字塔分层打法：不同层级达人的角色与执行要点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292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9144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292608" cy="292608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24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17043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头部达人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417320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6B8A"/>
                </a:solidFill>
              </a:defRPr>
            </a:pPr>
            <a:r>
              <a:t>50W+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17043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品牌背书 + 声量爆发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6459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筛选：粉丝量级 × 互动率 × 画像匹配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近30天垂直度 ≥ 80%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口碑评估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066544"/>
            <a:ext cx="50292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066544"/>
            <a:ext cx="45720" cy="914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157984"/>
            <a:ext cx="292608" cy="292608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157984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24"/>
                </a:solidFill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139696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腰部达人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386584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</a:defRPr>
            </a:pPr>
            <a:r>
              <a:t>5W–50W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139696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专业种草 + 信任建立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615184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分级报价体系，设上限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批量采购折扣（10篇+）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置换+费用组合降本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35808"/>
            <a:ext cx="50292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035808"/>
            <a:ext cx="45720" cy="9144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127248"/>
            <a:ext cx="292608" cy="292608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127248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24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10896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KOC / 素人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355848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B86FC"/>
                </a:solidFill>
              </a:defRPr>
            </a:pPr>
            <a:r>
              <a:t>60-75W篇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10896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铺量造势 + SEO覆盖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5844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Brief给方向不给限制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保留达人原创表达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设3个必提卖点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1097280"/>
            <a:ext cx="2560320" cy="47548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97880" y="1188720"/>
            <a:ext cx="228600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141732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400" b="1">
                <a:solidFill>
                  <a:srgbClr val="FF6B8A"/>
                </a:solidFill>
              </a:defRPr>
            </a:pPr>
            <a:r>
              <a:t>我的策略思考</a:t>
            </a:r>
          </a:p>
          <a:p>
            <a:pPr algn="l">
              <a:spcBef>
                <a:spcPts val="500"/>
              </a:spcBef>
              <a:defRPr sz="5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金字塔模型的核心不是均匀分配预算，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而是根据品牌阶段动态调整比例。</a:t>
            </a:r>
          </a:p>
          <a:p>
            <a:pPr algn="l">
              <a:spcBef>
                <a:spcPts val="800"/>
              </a:spcBef>
              <a:defRPr sz="500" b="0">
                <a:solidFill>
                  <a:srgbClr val="FFFFFF"/>
                </a:solidFill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5943600" y="292608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品牌冷启动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127248"/>
            <a:ext cx="219456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0" y="3127248"/>
            <a:ext cx="6248095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352044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品牌稳定期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3721608"/>
            <a:ext cx="219456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3721608"/>
            <a:ext cx="6248095" cy="36576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411480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品牌成长期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315968"/>
            <a:ext cx="219456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0" y="4315968"/>
            <a:ext cx="6248095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57200" y="5120640"/>
            <a:ext cx="5029200" cy="13716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5120640"/>
            <a:ext cx="45720" cy="13716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1937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</a:defRPr>
            </a:pPr>
            <a:r>
              <a:t>💡 执行建议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4864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000" b="0">
                <a:solidFill>
                  <a:srgbClr val="BBBBCC"/>
                </a:solidFill>
              </a:defRPr>
            </a:pPr>
            <a:r>
              <a:t>品牌冷启动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品牌稳定期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品牌成长期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60720" y="5120640"/>
            <a:ext cx="2560320" cy="13716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5120640"/>
            <a:ext cx="45720" cy="1371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89320" y="519379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关键指标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55321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曝光覆盖率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55321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6B8A"/>
                </a:solidFill>
              </a:defRPr>
            </a:pPr>
            <a:r>
              <a:t>≥ 80%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89320" y="5852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互动率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58521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</a:defRPr>
            </a:pPr>
            <a:r>
              <a:t>≥ 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61722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ROI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0" y="61722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BB86FC"/>
                </a:solidFill>
              </a:defRPr>
            </a:pPr>
            <a:r>
              <a:t>≥ 1.5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内容方向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爆款笔记的四类结构拆解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14173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F6B8A"/>
                </a:solidFill>
              </a:defRPr>
            </a:pPr>
            <a:r>
              <a:t>测评类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1887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6B8A"/>
                </a:solidFill>
              </a:defRPr>
            </a:pPr>
            <a: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信任型内容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916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横向对比3-5款同类产品，突出优势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01168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574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空瓶记式真实使用记录，前后对比图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09728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097280"/>
            <a:ext cx="45720" cy="1417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188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4EC9B0"/>
                </a:solidFill>
              </a:defRPr>
            </a:pPr>
            <a:r>
              <a:t>教程类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1887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4EC9B0"/>
                </a:solidFill>
              </a:defRPr>
            </a:pPr>
            <a: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50876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场景化教学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6916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如早C晚A搭配指南，步骤清晰可复制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01168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20574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收藏率高，实用性强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60604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606040"/>
            <a:ext cx="45720" cy="14173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697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BB86FC"/>
                </a:solidFill>
              </a:defRPr>
            </a:pPr>
            <a:r>
              <a:t>故事类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6974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BB86FC"/>
                </a:solidFill>
              </a:defRPr>
            </a:pPr>
            <a:r>
              <a:t>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01752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情感型内容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2004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个人经历+产品融入，如敏感肌自救故事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52044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引发共鸣，评论区互动率高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260604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2606040"/>
            <a:ext cx="45720" cy="1417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2697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FD700"/>
                </a:solidFill>
              </a:defRPr>
            </a:pPr>
            <a:r>
              <a:t>干货类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6974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D700"/>
                </a:solidFill>
              </a:defRPr>
            </a:pPr>
            <a:r>
              <a:t>25%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301752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成分科普·选购指南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32004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长尾流量好，搜索排名持续生效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352044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3400" y="3566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建立品牌专业形象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1097280"/>
            <a:ext cx="2926080" cy="4114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83880" y="1188720"/>
            <a:ext cx="265176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141732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400" b="1">
                <a:solidFill>
                  <a:srgbClr val="FF6B8A"/>
                </a:solidFill>
              </a:defRPr>
            </a:pPr>
            <a:r>
              <a:t>内容策略建议</a:t>
            </a:r>
          </a:p>
          <a:p>
            <a:pPr algn="l">
              <a:spcBef>
                <a:spcPts val="500"/>
              </a:spcBef>
              <a:defRPr sz="5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BBBBCC"/>
                </a:solidFill>
              </a:defRPr>
            </a:pPr>
            <a:r>
              <a:t>四类内容应形成互补矩阵：</a:t>
            </a:r>
          </a:p>
          <a:p>
            <a:pPr algn="l">
              <a:spcBef>
                <a:spcPts val="400"/>
              </a:spcBef>
              <a:defRPr sz="500" b="0">
                <a:solidFill>
                  <a:srgbClr val="FFFFFF"/>
                </a:solidFill>
              </a:defRPr>
            </a:pPr>
          </a:p>
        </p:txBody>
      </p:sp>
      <p:sp>
        <p:nvSpPr>
          <p:cNvPr id="42" name="Rectangle 41"/>
          <p:cNvSpPr/>
          <p:nvPr/>
        </p:nvSpPr>
        <p:spPr>
          <a:xfrm>
            <a:off x="8229600" y="2468880"/>
            <a:ext cx="256032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2468880"/>
            <a:ext cx="3962095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233172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教程+测评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23317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55%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0" y="23317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核心产出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3108960"/>
            <a:ext cx="256032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600" y="3108960"/>
            <a:ext cx="3962095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0" y="297180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故事类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29718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20%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29718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话题制造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749040"/>
            <a:ext cx="256032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600" y="3749040"/>
            <a:ext cx="3962095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0" y="361188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干货类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36118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</a:defRPr>
            </a:pPr>
            <a:r>
              <a:t>25%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2720" y="36118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长尾流量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114800"/>
            <a:ext cx="7589520" cy="4572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4114800"/>
            <a:ext cx="45720" cy="4572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4142232"/>
            <a:ext cx="7132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6B8A"/>
                </a:solidFill>
              </a:defRPr>
            </a:pPr>
            <a:r>
              <a:t>关键发现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4343400"/>
            <a:ext cx="7132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标题决定点击率 → 封面决定停留 → 正文决定转化 → 三者缺一不可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754880"/>
            <a:ext cx="7589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💡 我的方法论：教程类和测评类合计占55%，是核心内容类型；但故事类互动成本最低——适合新品冷启动制造话题。</a:t>
            </a:r>
          </a:p>
        </p:txBody>
      </p:sp>
      <p:sp>
        <p:nvSpPr>
          <p:cNvPr id="62" name="Oval 61"/>
          <p:cNvSpPr/>
          <p:nvPr/>
        </p:nvSpPr>
        <p:spPr>
          <a:xfrm>
            <a:off x="45720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3152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0584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28016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55448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82880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10312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投放节奏与预算分配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4周Campaign SOP框架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828800" cy="4114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蓄水期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达人招募与brief下发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种子笔记铺垫（10-15篇）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品牌词SEO占位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1051560"/>
            <a:ext cx="1828800" cy="41148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45%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第2周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爆发期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腰部达人集中发布（30-50篇）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头部达人引爆声量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信息流投放加码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051560"/>
            <a:ext cx="1828800" cy="411480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第3周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扩散期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KOC铺量（100+篇）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UGC话题挑战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评论区运营引导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051560"/>
            <a:ext cx="1828800" cy="4114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第4周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复盘期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数据追踪与效果归因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优质内容二次投放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沉淀SOP与达人库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200400"/>
            <a:ext cx="18288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6B8A"/>
                </a:solidFill>
              </a:defRPr>
            </a:pPr>
            <a:r>
              <a:t>曝光量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达成目标覆盖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7744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77440" y="3200400"/>
            <a:ext cx="182880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</a:defRPr>
            </a:pPr>
            <a:r>
              <a:t>互动率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≥ 3%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3200400"/>
            <a:ext cx="182880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B86FC"/>
                </a:solidFill>
              </a:defRPr>
            </a:pPr>
            <a:r>
              <a:t>搜索排名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品牌词 TOP3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3200400"/>
            <a:ext cx="182880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</a:defRPr>
            </a:pPr>
            <a:r>
              <a:t>ROI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≥ 1.5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977639"/>
            <a:ext cx="50292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3977639"/>
            <a:ext cx="45720" cy="10058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050791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6B8A"/>
                </a:solidFill>
              </a:defRPr>
            </a:pPr>
            <a:r>
              <a:t>核心逻辑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4297679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BBBBCC"/>
                </a:solidFill>
              </a:defRPr>
            </a:pPr>
            <a:r>
              <a:t>预算分配遵循「前低→中高→中→收尾」曲线，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BBBBCC"/>
                </a:solidFill>
              </a:defRPr>
            </a:pPr>
            <a:r>
              <a:t>爆发期投入最大，确保声量峰值集中。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60720" y="3977639"/>
            <a:ext cx="292608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60720" y="3977639"/>
            <a:ext cx="45720" cy="100584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89320" y="4050791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</a:defRPr>
            </a:pPr>
            <a:r>
              <a:t>💡 实战经验总结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429767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• 爆发期前预留3天预热素材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• 复盘期重点关注ROI低于1.2的渠道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• 优质内容二次投放延长长尾效应</a:t>
            </a:r>
          </a:p>
        </p:txBody>
      </p:sp>
      <p:sp>
        <p:nvSpPr>
          <p:cNvPr id="55" name="Oval 54"/>
          <p:cNvSpPr/>
          <p:nvPr/>
        </p:nvSpPr>
        <p:spPr>
          <a:xfrm>
            <a:off x="45720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3152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0584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28016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55448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82880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10312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方法论沉淀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从执行经验到策略能力的迁移映射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4572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6B8A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097280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多行业品牌项目执行经验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078992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B8A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097280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达人招募与需求沟通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481328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45720" cy="384048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527048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52704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千万级预算管理与成本控制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508760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527048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预算分配与报价管控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911096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1911096"/>
            <a:ext cx="45720" cy="3840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56816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B86FC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1956816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多渠道媒介SOP搭建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1938528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B86FC"/>
                </a:solidFill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1956816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小红书媒介执行SOP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340864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340864"/>
            <a:ext cx="45720" cy="3840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386584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238658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数据分析 &amp; ROI优化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368296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2386584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</a:defRPr>
            </a:pPr>
            <a:r>
              <a:t>投放效果追踪与复盘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770632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770632"/>
            <a:ext cx="4572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2816352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6B8A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281635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跨团队协同与项目管理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2798064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B8A"/>
                </a:solidFill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2816352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内容审核与出品把控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200400"/>
            <a:ext cx="77724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200400"/>
            <a:ext cx="45720" cy="6858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2278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6B8A"/>
                </a:solidFill>
              </a:defRPr>
            </a:pPr>
            <a:r>
              <a:t>我的核心优势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3474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不是只做执行的人——而是能从品牌视角理解平台逻辑，推动营销闭环的项目经理。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069080"/>
            <a:ext cx="2377440" cy="54864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411480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</a:defRPr>
            </a:pPr>
            <a:r>
              <a:t>9年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4343400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互联网广告经验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108960" y="4069080"/>
            <a:ext cx="2377440" cy="54864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18688" y="411480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</a:defRPr>
            </a:pPr>
            <a:r>
              <a:t>互联网广告全平台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18688" y="4343400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主流平台服务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60720" y="4069080"/>
            <a:ext cx="2377440" cy="54864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70448" y="411480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小红书生态深度实践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70448" y="4343400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持续跟踪平台趋势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800600"/>
            <a:ext cx="5029200" cy="640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4800600"/>
            <a:ext cx="45720" cy="6400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48463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</a:defRPr>
            </a:pPr>
            <a:r>
              <a:t>📋 可交付成果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达人矩阵方案 · 投放SOP文档 · 效果归因报告 · 品牌内容策略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60720" y="4800600"/>
            <a:ext cx="2560320" cy="640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760720" y="4800600"/>
            <a:ext cx="45720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89320" y="48463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📂 更多案例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89320" y="5074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美妆赛道大达人投放方案 · 平台媒介分析 · 投放执行报告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6235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小红书美妆赛道 · 个人案例作品集 · 2026</a:t>
            </a:r>
          </a:p>
        </p:txBody>
      </p:sp>
      <p:sp>
        <p:nvSpPr>
          <p:cNvPr id="59" name="Oval 58"/>
          <p:cNvSpPr/>
          <p:nvPr/>
        </p:nvSpPr>
        <p:spPr>
          <a:xfrm>
            <a:off x="45720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31520" y="58521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0584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280160" y="58521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55448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828800" y="58521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10312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